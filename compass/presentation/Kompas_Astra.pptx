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Претендентов на грант</c:v>
                </c:pt>
              </c:strCache>
            </c:strRef>
          </c:tx>
          <c:spPr>
            <a:solidFill>
              <a:srgbClr val="3B35D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2143A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Семей</c:v>
                  </c:pt>
                  <c:pt idx="1">
                    <c:v>Шымкент</c:v>
                  </c:pt>
                  <c:pt idx="2">
                    <c:v>Астана</c:v>
                  </c:pt>
                  <c:pt idx="3">
                    <c:v>Алматы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5.6</c:v>
                </c:pt>
                <c:pt idx="1">
                  <c:v>10.2</c:v>
                </c:pt>
                <c:pt idx="2">
                  <c:v>13</c:v>
                </c:pt>
                <c:pt idx="3">
                  <c:v>15.3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2143A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4AAD"/>
                </a:solidFill>
                <a:latin typeface="Montserra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Название, слоган, три цифры пилота. Картинку телефона справа замените на скриншот главной «Сәлем, Айгерим!».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с источниками. Цитату Айданы Тулегеновны вставьте в правый верхний блок дословно.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телефона замените скриншотами: диагностика (таблица подтем), помощник (ответ с «Совпали слова»), план недели.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показывает критерий «Работоспособность»: у каждой функции есть ввод, обработка и результат, и они связаны.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тесты прогнаны в браузере на живом сайте. Подробности в файле TESTS.md.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Впишите имена участников вместо (Имя). Каждый участник должен уметь объяснить свою часть.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2-image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01600"/>
            <a:ext cx="1574800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330" b="1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Astra</a:t>
            </a:r>
            <a:endParaRPr lang="en-US" sz="2330" dirty="0"/>
          </a:p>
        </p:txBody>
      </p:sp>
      <p:sp>
        <p:nvSpPr>
          <p:cNvPr id="3" name="Text 1"/>
          <p:cNvSpPr txBox="1"/>
          <p:nvPr/>
        </p:nvSpPr>
        <p:spPr>
          <a:xfrm>
            <a:off x="3860800" y="118533"/>
            <a:ext cx="7992533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Адаптационный компас для семиклассников НИШ: диагностика, помощник, маршрут, менторы и план первой недели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87867" y="1439333"/>
            <a:ext cx="7840133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267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Компас</a:t>
            </a:r>
            <a:pPr algn="l" indent="0" marL="0">
              <a:lnSpc>
                <a:spcPct val="90000"/>
              </a:lnSpc>
              <a:buNone/>
            </a:pPr>
            <a:r>
              <a:rPr lang="en-US" sz="1267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12670" dirty="0"/>
          </a:p>
        </p:txBody>
      </p:sp>
      <p:sp>
        <p:nvSpPr>
          <p:cNvPr id="5" name="Text 3"/>
          <p:cNvSpPr txBox="1"/>
          <p:nvPr/>
        </p:nvSpPr>
        <p:spPr>
          <a:xfrm>
            <a:off x="541867" y="3234267"/>
            <a:ext cx="7586133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Сәлем, НИШ! Первая неделя без паники.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1867" y="3674533"/>
            <a:ext cx="5384800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7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compass7-nis.vercel.app</a:t>
            </a:r>
            <a:endParaRPr lang="en-US" sz="1470" dirty="0"/>
          </a:p>
        </p:txBody>
      </p:sp>
      <p:sp>
        <p:nvSpPr>
          <p:cNvPr id="7" name="Text 5"/>
          <p:cNvSpPr txBox="1"/>
          <p:nvPr/>
        </p:nvSpPr>
        <p:spPr>
          <a:xfrm>
            <a:off x="338667" y="4258733"/>
            <a:ext cx="2455333" cy="31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3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Цель пилота</a:t>
            </a:r>
            <a:endParaRPr lang="en-US" sz="2130" dirty="0"/>
          </a:p>
        </p:txBody>
      </p:sp>
      <p:sp>
        <p:nvSpPr>
          <p:cNvPr id="8" name="Text 6"/>
          <p:cNvSpPr txBox="1"/>
          <p:nvPr/>
        </p:nvSpPr>
        <p:spPr>
          <a:xfrm>
            <a:off x="3064933" y="4258733"/>
            <a:ext cx="2692400" cy="31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3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Стратегия роста</a:t>
            </a:r>
            <a:endParaRPr lang="en-US" sz="2130" dirty="0"/>
          </a:p>
        </p:txBody>
      </p:sp>
      <p:sp>
        <p:nvSpPr>
          <p:cNvPr id="9" name="Text 7"/>
          <p:cNvSpPr txBox="1"/>
          <p:nvPr/>
        </p:nvSpPr>
        <p:spPr>
          <a:xfrm>
            <a:off x="5918200" y="4258733"/>
            <a:ext cx="2336800" cy="31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13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Бюджет пилота</a:t>
            </a:r>
            <a:endParaRPr lang="en-US" sz="2130" dirty="0"/>
          </a:p>
        </p:txBody>
      </p:sp>
      <p:sp>
        <p:nvSpPr>
          <p:cNvPr id="10" name="Text 8"/>
          <p:cNvSpPr txBox="1"/>
          <p:nvPr/>
        </p:nvSpPr>
        <p:spPr>
          <a:xfrm>
            <a:off x="381000" y="4707467"/>
            <a:ext cx="1989667" cy="121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7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100%</a:t>
            </a:r>
            <a:endParaRPr lang="en-US" sz="13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классов школы</a:t>
            </a:r>
            <a:endParaRPr lang="en-US" sz="1330" dirty="0"/>
          </a:p>
        </p:txBody>
      </p:sp>
      <p:sp>
        <p:nvSpPr>
          <p:cNvPr id="11" name="Text 9"/>
          <p:cNvSpPr txBox="1"/>
          <p:nvPr/>
        </p:nvSpPr>
        <p:spPr>
          <a:xfrm>
            <a:off x="3208867" y="4707467"/>
            <a:ext cx="1998133" cy="121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Кураторы</a:t>
            </a:r>
            <a:endParaRPr lang="en-US" sz="13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8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 менторы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6036733" y="4707467"/>
            <a:ext cx="1998133" cy="1210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100K ₸</a:t>
            </a:r>
            <a:endParaRPr lang="en-US" sz="133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 1 четверть</a:t>
            </a:r>
            <a:endParaRPr lang="en-US" sz="13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8600" y="423333"/>
            <a:ext cx="8873067" cy="1227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7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Вчера отличник, сегодня «3»:</a:t>
            </a:r>
            <a:endParaRPr lang="en-US" sz="347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47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новичок теряется в системе НИШ</a:t>
            </a:r>
            <a:endParaRPr lang="en-US" sz="3470" dirty="0"/>
          </a:p>
        </p:txBody>
      </p:sp>
      <p:sp>
        <p:nvSpPr>
          <p:cNvPr id="3" name="Text 1"/>
          <p:cNvSpPr txBox="1"/>
          <p:nvPr/>
        </p:nvSpPr>
        <p:spPr>
          <a:xfrm>
            <a:off x="9237133" y="321733"/>
            <a:ext cx="27686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«[ВСТАВИТЬ: цитата из интервью]»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E2A9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Айдана Тулегеновна, </a:t>
            </a:r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заместитель директора по учебной работе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2400" y="1845733"/>
            <a:ext cx="11785600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7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год в 7 классы НИШ приходит около </a:t>
            </a:r>
            <a:pPr algn="l" indent="0" marL="0">
              <a:lnSpc>
                <a:spcPct val="11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2 800 новичков</a:t>
            </a:r>
            <a:pPr algn="l" indent="0" marL="0">
              <a:lnSpc>
                <a:spcPct val="115000"/>
              </a:lnSpc>
              <a:buNone/>
            </a:pPr>
            <a:r>
              <a:rPr lang="en-US" sz="147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лучших по итогам отбора. Но в первые недели на них одновременно обрушиваются </a:t>
            </a:r>
            <a:pPr algn="l" indent="0" marL="0">
              <a:lnSpc>
                <a:spcPct val="11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новая система оценивания (ФО, СОР, СОЧ, дескрипторы), кабинеты, три языка, клубы и интернат</a:t>
            </a:r>
            <a:pPr algn="l" indent="0" marL="0">
              <a:lnSpc>
                <a:spcPct val="115000"/>
              </a:lnSpc>
              <a:buNone/>
            </a:pPr>
            <a:r>
              <a:rPr lang="en-US" sz="147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Информация есть, но разбросана по сайту, чатам и журналу. </a:t>
            </a:r>
            <a:pPr algn="l" indent="0" marL="0">
              <a:lnSpc>
                <a:spcPct val="115000"/>
              </a:lnSpc>
              <a:buNone/>
            </a:pPr>
            <a:r>
              <a:rPr lang="en-US" sz="14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 не в знаниях, а в том, что нет понятного маршрута.</a:t>
            </a:r>
            <a:endParaRPr lang="en-US" sz="1470" dirty="0"/>
          </a:p>
        </p:txBody>
      </p:sp>
      <p:sp>
        <p:nvSpPr>
          <p:cNvPr id="5" name="Text 3"/>
          <p:cNvSpPr txBox="1"/>
          <p:nvPr/>
        </p:nvSpPr>
        <p:spPr>
          <a:xfrm>
            <a:off x="1625600" y="3234267"/>
            <a:ext cx="15070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28 112</a:t>
            </a:r>
            <a:endParaRPr lang="en-US" sz="2530" dirty="0"/>
          </a:p>
        </p:txBody>
      </p:sp>
      <p:sp>
        <p:nvSpPr>
          <p:cNvPr id="6" name="Text 4"/>
          <p:cNvSpPr txBox="1"/>
          <p:nvPr/>
        </p:nvSpPr>
        <p:spPr>
          <a:xfrm>
            <a:off x="1625600" y="3674533"/>
            <a:ext cx="1507067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3A3F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претендентов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643467" y="4419600"/>
            <a:ext cx="2269067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боролись за 2 814 грантов «Өркен» в 7 классы НИШ на 2026–2027 учебный год. Каждый поступивший начинает в новой системе с нуля.</a:t>
            </a:r>
            <a:endParaRPr lang="en-US" sz="1070" dirty="0"/>
          </a:p>
        </p:txBody>
      </p:sp>
      <p:sp>
        <p:nvSpPr>
          <p:cNvPr id="8" name="Text 6"/>
          <p:cNvSpPr txBox="1"/>
          <p:nvPr/>
        </p:nvSpPr>
        <p:spPr>
          <a:xfrm>
            <a:off x="643467" y="5926667"/>
            <a:ext cx="233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АОО «НИШ», результаты отбора; pedagog-kz.kz, 06.05.2026</a:t>
            </a:r>
            <a:endParaRPr lang="en-US" sz="870" dirty="0"/>
          </a:p>
        </p:txBody>
      </p:sp>
      <p:sp>
        <p:nvSpPr>
          <p:cNvPr id="9" name="Text 7"/>
          <p:cNvSpPr txBox="1"/>
          <p:nvPr/>
        </p:nvSpPr>
        <p:spPr>
          <a:xfrm>
            <a:off x="4428067" y="3234267"/>
            <a:ext cx="15070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из 5</a:t>
            </a:r>
            <a:endParaRPr lang="en-US" sz="2530" dirty="0"/>
          </a:p>
        </p:txBody>
      </p:sp>
      <p:sp>
        <p:nvSpPr>
          <p:cNvPr id="10" name="Text 8"/>
          <p:cNvSpPr txBox="1"/>
          <p:nvPr/>
        </p:nvSpPr>
        <p:spPr>
          <a:xfrm>
            <a:off x="4428067" y="3674533"/>
            <a:ext cx="1507067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3A3F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теряют прогресс после смены школы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3445933" y="4419600"/>
            <a:ext cx="2269067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год после перехода двое из пяти учеников не показывают ожидаемого прогресса. Причина не в способностях, а в адаптации.</a:t>
            </a:r>
            <a:endParaRPr lang="en-US" sz="1070" dirty="0"/>
          </a:p>
        </p:txBody>
      </p:sp>
      <p:sp>
        <p:nvSpPr>
          <p:cNvPr id="12" name="Text 10"/>
          <p:cNvSpPr txBox="1"/>
          <p:nvPr/>
        </p:nvSpPr>
        <p:spPr>
          <a:xfrm>
            <a:off x="3445933" y="5926667"/>
            <a:ext cx="233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Galton, Gray &amp; Ruddock, 1999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7230533" y="3234267"/>
            <a:ext cx="15070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: 1</a:t>
            </a:r>
            <a:endParaRPr lang="en-US" sz="2530" dirty="0"/>
          </a:p>
        </p:txBody>
      </p:sp>
      <p:sp>
        <p:nvSpPr>
          <p:cNvPr id="14" name="Text 12"/>
          <p:cNvSpPr txBox="1"/>
          <p:nvPr/>
        </p:nvSpPr>
        <p:spPr>
          <a:xfrm>
            <a:off x="7230533" y="3674533"/>
            <a:ext cx="1507067" cy="389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b="1" dirty="0">
                <a:solidFill>
                  <a:srgbClr val="3A3F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 в НИШ Шымкента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4419600"/>
            <a:ext cx="2269067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2 926 претендентов на 288 грантов. Приходят сильнейшие, и тем обиднее, когда отличник теряется из-за системы, а не из-за знаний.</a:t>
            </a:r>
            <a:endParaRPr lang="en-US" sz="1070" dirty="0"/>
          </a:p>
        </p:txBody>
      </p:sp>
      <p:sp>
        <p:nvSpPr>
          <p:cNvPr id="16" name="Text 14"/>
          <p:cNvSpPr txBox="1"/>
          <p:nvPr/>
        </p:nvSpPr>
        <p:spPr>
          <a:xfrm>
            <a:off x="6248400" y="5926667"/>
            <a:ext cx="23368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pedagog-kz.kz, 06.05.2026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8974667" y="2760133"/>
            <a:ext cx="3048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КОНКУРС В НИШ,</a:t>
            </a:r>
            <a:endParaRPr lang="en-US" sz="173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ЧЕЛОВЕК НА МЕСТО</a:t>
            </a:r>
            <a:endParaRPr lang="en-US" sz="173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8890000" y="3386667"/>
          <a:ext cx="3217333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8974667" y="5969000"/>
            <a:ext cx="3132667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4AA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Источник: pedagog-kz.kz, 06.05.2026 (отбор на 2026–2027)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75733" y="592667"/>
            <a:ext cx="10430933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РЫНОК И АУДИТОРИЯ</a:t>
            </a:r>
            <a:endParaRPr lang="en-US" sz="56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566333"/>
            <a:ext cx="2912533" cy="846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ОТБОР ЕСТЬ.</a:t>
            </a:r>
            <a:endParaRPr lang="en-US" sz="17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АДАПТАЦИИ ПОСЛЕ</a:t>
            </a:r>
            <a:endParaRPr lang="en-US" sz="17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7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ОТБОРА НЕТ.</a:t>
            </a:r>
            <a:endParaRPr lang="en-US" sz="1730" dirty="0"/>
          </a:p>
        </p:txBody>
      </p:sp>
      <p:sp>
        <p:nvSpPr>
          <p:cNvPr id="4" name="Text 2"/>
          <p:cNvSpPr txBox="1"/>
          <p:nvPr/>
        </p:nvSpPr>
        <p:spPr>
          <a:xfrm>
            <a:off x="3666067" y="1422400"/>
            <a:ext cx="75946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сети НИШ учится почти 18 тысяч школьников, и каждый год приходит новый 7 класс. Школы вкладывают много сил в отбор, а адаптация после поступления держится на кураторе и на том, повезёт ли новичку со старшими друзьями.</a:t>
            </a:r>
            <a:endParaRPr lang="en-US" sz="1470" dirty="0"/>
          </a:p>
        </p:txBody>
      </p:sp>
      <p:sp>
        <p:nvSpPr>
          <p:cNvPr id="5" name="Text 3"/>
          <p:cNvSpPr txBox="1"/>
          <p:nvPr/>
        </p:nvSpPr>
        <p:spPr>
          <a:xfrm>
            <a:off x="1422400" y="3429000"/>
            <a:ext cx="24722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РАЗМЕР РЫНКА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113867" y="3429000"/>
            <a:ext cx="25061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ПОЛЬЗОВАТЕЛИ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05333" y="3429000"/>
            <a:ext cx="2201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НИША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74800" y="3979333"/>
            <a:ext cx="2489200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2 814 новичков в год</a:t>
            </a:r>
            <a:endParaRPr lang="en-US" sz="13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грантов «Өркен» в 7 классы НИШ на 2026–2027 учебный год.</a:t>
            </a:r>
            <a:endParaRPr lang="en-US" sz="1330" dirty="0"/>
          </a:p>
        </p:txBody>
      </p:sp>
      <p:sp>
        <p:nvSpPr>
          <p:cNvPr id="9" name="Text 7"/>
          <p:cNvSpPr txBox="1"/>
          <p:nvPr/>
        </p:nvSpPr>
        <p:spPr>
          <a:xfrm>
            <a:off x="1574800" y="4682067"/>
            <a:ext cx="2489200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17 884 ученика НИШ</a:t>
            </a:r>
            <a:endParaRPr lang="en-US" sz="13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сети из 21 школы в 18 городах (на 02.09.2024).</a:t>
            </a:r>
            <a:endParaRPr lang="en-US" sz="1330" dirty="0"/>
          </a:p>
        </p:txBody>
      </p:sp>
      <p:sp>
        <p:nvSpPr>
          <p:cNvPr id="10" name="Text 8"/>
          <p:cNvSpPr txBox="1"/>
          <p:nvPr/>
        </p:nvSpPr>
        <p:spPr>
          <a:xfrm>
            <a:off x="1574800" y="5384800"/>
            <a:ext cx="2489200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28 112 претендентов</a:t>
            </a:r>
            <a:endParaRPr lang="en-US" sz="133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 год: будущие ученики и родители тоже ищут, как устроена НИШ.</a:t>
            </a:r>
            <a:endParaRPr lang="en-US" sz="1330" dirty="0"/>
          </a:p>
        </p:txBody>
      </p:sp>
      <p:sp>
        <p:nvSpPr>
          <p:cNvPr id="11" name="Text 9"/>
          <p:cNvSpPr txBox="1"/>
          <p:nvPr/>
        </p:nvSpPr>
        <p:spPr>
          <a:xfrm>
            <a:off x="4478867" y="3937000"/>
            <a:ext cx="3395133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Основные: 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семиклассники-новички, 12–13 лет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Вторые: 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кураторы и завучи: видят, что непонятно новичкам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Партнёры: </a:t>
            </a:r>
            <a:endParaRPr lang="en-US" sz="127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школы с отбором, менторы-старшеклассники, родители</a:t>
            </a:r>
            <a:endParaRPr lang="en-US" sz="1270" dirty="0"/>
          </a:p>
        </p:txBody>
      </p:sp>
      <p:sp>
        <p:nvSpPr>
          <p:cNvPr id="12" name="Text 10"/>
          <p:cNvSpPr txBox="1"/>
          <p:nvPr/>
        </p:nvSpPr>
        <p:spPr>
          <a:xfrm>
            <a:off x="8288867" y="3894667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Сайт школы, чаты и электронный журнал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хранят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информацию, но не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объясняют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её новичку и не превращают в план. Компас собирает всё в один маршрут: проверить знания, задать вопрос, получить план недели.</a:t>
            </a:r>
            <a:endParaRPr lang="en-US" sz="1270" dirty="0"/>
          </a:p>
        </p:txBody>
      </p:sp>
      <p:sp>
        <p:nvSpPr>
          <p:cNvPr id="13" name="Text 11"/>
          <p:cNvSpPr txBox="1"/>
          <p:nvPr/>
        </p:nvSpPr>
        <p:spPr>
          <a:xfrm>
            <a:off x="592667" y="6646333"/>
            <a:ext cx="10414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Источники: nis.edu.kz; ru.wikipedia.org (Назарбаев Интеллектуальные школы); pedagog-kz.kz, 06.05.2026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62467" y="812800"/>
            <a:ext cx="3716867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33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работает</a:t>
            </a:r>
            <a:endParaRPr lang="en-US" sz="33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3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Компас?</a:t>
            </a:r>
            <a:endParaRPr lang="en-US" sz="3330" dirty="0"/>
          </a:p>
        </p:txBody>
      </p:sp>
      <p:sp>
        <p:nvSpPr>
          <p:cNvPr id="3" name="Text 1"/>
          <p:cNvSpPr txBox="1"/>
          <p:nvPr/>
        </p:nvSpPr>
        <p:spPr>
          <a:xfrm>
            <a:off x="245533" y="1964267"/>
            <a:ext cx="3352800" cy="345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Компас превращает первую неделю в НИШ в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понятный маршрут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Ученик вводит имя и класс, и сайт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сам показывает его день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: уроки, кабинеты, этажи, учителей и куратора.
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находит слабые подтемы,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отвечает на вопросы о школе и запоминает, что непонятно, а </a:t>
            </a:r>
            <a:pPr algn="l" indent="0" marL="0">
              <a:lnSpc>
                <a:spcPct val="120000"/>
              </a:lnSpc>
              <a:buNone/>
            </a:pPr>
            <a:r>
              <a:rPr lang="en-US" sz="12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планер</a:t>
            </a:r>
            <a:pPr algn="l" indent="0" marL="0">
              <a:lnSpc>
                <a:spcPct val="120000"/>
              </a:lnSpc>
              <a:buNone/>
            </a:pPr>
            <a:r>
              <a:rPr lang="en-US" sz="12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собирает всё в неделю: занятия до СОР, запись в кружки, встречу с ментором. С учётом отдыха и сна.</a:t>
            </a:r>
            <a:endParaRPr lang="en-US" sz="1270" dirty="0"/>
          </a:p>
        </p:txBody>
      </p:sp>
      <p:sp>
        <p:nvSpPr>
          <p:cNvPr id="4" name="Text 2"/>
          <p:cNvSpPr txBox="1"/>
          <p:nvPr/>
        </p:nvSpPr>
        <p:spPr>
          <a:xfrm>
            <a:off x="3725333" y="491067"/>
            <a:ext cx="3048000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</a:t>
            </a:r>
            <a:endParaRPr lang="en-US" sz="11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«Находит слабые подтемы, а не только процент»</a:t>
            </a:r>
            <a:endParaRPr lang="en-US" sz="1130" dirty="0"/>
          </a:p>
        </p:txBody>
      </p:sp>
      <p:sp>
        <p:nvSpPr>
          <p:cNvPr id="5" name="Text 3"/>
          <p:cNvSpPr txBox="1"/>
          <p:nvPr/>
        </p:nvSpPr>
        <p:spPr>
          <a:xfrm>
            <a:off x="6307667" y="4995333"/>
            <a:ext cx="3005667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</a:t>
            </a:r>
            <a:endParaRPr lang="en-US" sz="10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«Отвечает на вопрос своими словами, RU и KZ»</a:t>
            </a:r>
            <a:endParaRPr lang="en-US" sz="1070" dirty="0"/>
          </a:p>
        </p:txBody>
      </p:sp>
      <p:sp>
        <p:nvSpPr>
          <p:cNvPr id="6" name="Text 4"/>
          <p:cNvSpPr txBox="1"/>
          <p:nvPr/>
        </p:nvSpPr>
        <p:spPr>
          <a:xfrm>
            <a:off x="9059333" y="338667"/>
            <a:ext cx="2963333" cy="694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на 7 дней</a:t>
            </a:r>
            <a:endParaRPr lang="en-US" sz="113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«Ставит задачи до дедлайна и не трогает сон»</a:t>
            </a:r>
            <a:endParaRPr lang="en-US" sz="1130" dirty="0"/>
          </a:p>
        </p:txBody>
      </p:sp>
      <p:sp>
        <p:nvSpPr>
          <p:cNvPr id="7" name="Text 5"/>
          <p:cNvSpPr txBox="1"/>
          <p:nvPr/>
        </p:nvSpPr>
        <p:spPr>
          <a:xfrm>
            <a:off x="448733" y="6062133"/>
            <a:ext cx="1803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Сәлем!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448733" y="6316133"/>
            <a:ext cx="1803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B8BC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имя и класс</a:t>
            </a:r>
            <a:endParaRPr lang="en-US" sz="930" dirty="0"/>
          </a:p>
        </p:txBody>
      </p:sp>
      <p:sp>
        <p:nvSpPr>
          <p:cNvPr id="9" name="Text 7"/>
          <p:cNvSpPr txBox="1"/>
          <p:nvPr/>
        </p:nvSpPr>
        <p:spPr>
          <a:xfrm>
            <a:off x="2641600" y="6062133"/>
            <a:ext cx="19642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Твой день</a:t>
            </a:r>
            <a:endParaRPr lang="en-US" sz="1270" dirty="0"/>
          </a:p>
        </p:txBody>
      </p:sp>
      <p:sp>
        <p:nvSpPr>
          <p:cNvPr id="10" name="Text 8"/>
          <p:cNvSpPr txBox="1"/>
          <p:nvPr/>
        </p:nvSpPr>
        <p:spPr>
          <a:xfrm>
            <a:off x="2641600" y="6316133"/>
            <a:ext cx="19642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B8BC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уроки, кабинеты, учителя</a:t>
            </a:r>
            <a:endParaRPr lang="en-US" sz="930" dirty="0"/>
          </a:p>
        </p:txBody>
      </p:sp>
      <p:sp>
        <p:nvSpPr>
          <p:cNvPr id="11" name="Text 9"/>
          <p:cNvSpPr txBox="1"/>
          <p:nvPr/>
        </p:nvSpPr>
        <p:spPr>
          <a:xfrm>
            <a:off x="5003800" y="6062133"/>
            <a:ext cx="21590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</a:t>
            </a:r>
            <a:endParaRPr lang="en-US" sz="1270" dirty="0"/>
          </a:p>
        </p:txBody>
      </p:sp>
      <p:sp>
        <p:nvSpPr>
          <p:cNvPr id="12" name="Text 10"/>
          <p:cNvSpPr txBox="1"/>
          <p:nvPr/>
        </p:nvSpPr>
        <p:spPr>
          <a:xfrm>
            <a:off x="5003800" y="6316133"/>
            <a:ext cx="215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B8BC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слабые подтемы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7552267" y="6062133"/>
            <a:ext cx="1930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</a:t>
            </a:r>
            <a:endParaRPr lang="en-US" sz="1270" dirty="0"/>
          </a:p>
        </p:txBody>
      </p:sp>
      <p:sp>
        <p:nvSpPr>
          <p:cNvPr id="14" name="Text 12"/>
          <p:cNvSpPr txBox="1"/>
          <p:nvPr/>
        </p:nvSpPr>
        <p:spPr>
          <a:xfrm>
            <a:off x="7552267" y="6316133"/>
            <a:ext cx="193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B8BC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своими словами</a:t>
            </a:r>
            <a:endParaRPr lang="en-US" sz="930" dirty="0"/>
          </a:p>
        </p:txBody>
      </p:sp>
      <p:sp>
        <p:nvSpPr>
          <p:cNvPr id="15" name="Text 13"/>
          <p:cNvSpPr txBox="1"/>
          <p:nvPr/>
        </p:nvSpPr>
        <p:spPr>
          <a:xfrm>
            <a:off x="9880600" y="6062133"/>
            <a:ext cx="19388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недели</a:t>
            </a:r>
            <a:endParaRPr lang="en-US" sz="1270" dirty="0"/>
          </a:p>
        </p:txBody>
      </p:sp>
      <p:sp>
        <p:nvSpPr>
          <p:cNvPr id="16" name="Text 14"/>
          <p:cNvSpPr txBox="1"/>
          <p:nvPr/>
        </p:nvSpPr>
        <p:spPr>
          <a:xfrm>
            <a:off x="9880600" y="6316133"/>
            <a:ext cx="193886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B8BCC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клубы, ментор, сон</a:t>
            </a:r>
            <a:endParaRPr lang="en-US" sz="9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20133" y="50800"/>
            <a:ext cx="116332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69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Как это работает</a:t>
            </a:r>
            <a:endParaRPr lang="en-US" sz="693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69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внутри?</a:t>
            </a:r>
            <a:endParaRPr lang="en-US" sz="6930" dirty="0"/>
          </a:p>
        </p:txBody>
      </p:sp>
      <p:sp>
        <p:nvSpPr>
          <p:cNvPr id="3" name="Text 1"/>
          <p:cNvSpPr txBox="1"/>
          <p:nvPr/>
        </p:nvSpPr>
        <p:spPr>
          <a:xfrm>
            <a:off x="5418667" y="1151467"/>
            <a:ext cx="651933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Каждая функция принимает данные, обрабатывает их и выдаёт результат. Результаты первых двух попадают в третью.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69333" y="2455333"/>
            <a:ext cx="241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8533" y="2921000"/>
            <a:ext cx="2472267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 решает 10 задач. Программа проверяет каждый ответ и считает результат по 5 подтемам.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338667" y="3810000"/>
            <a:ext cx="2133600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Ввод: 10 ответов</a:t>
            </a:r>
            <a:endParaRPr lang="en-US" sz="1330" dirty="0"/>
          </a:p>
        </p:txBody>
      </p:sp>
      <p:sp>
        <p:nvSpPr>
          <p:cNvPr id="7" name="Text 5"/>
          <p:cNvSpPr txBox="1"/>
          <p:nvPr/>
        </p:nvSpPr>
        <p:spPr>
          <a:xfrm>
            <a:off x="254000" y="4182533"/>
            <a:ext cx="2286000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*пусто или текст вместо числа → ошибка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04800" y="4521200"/>
            <a:ext cx="2201333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Проверка по подтемам</a:t>
            </a:r>
            <a:endParaRPr lang="en-US" sz="1270" dirty="0"/>
          </a:p>
        </p:txBody>
      </p:sp>
      <p:sp>
        <p:nvSpPr>
          <p:cNvPr id="9" name="Text 7"/>
          <p:cNvSpPr txBox="1"/>
          <p:nvPr/>
        </p:nvSpPr>
        <p:spPr>
          <a:xfrm>
            <a:off x="254000" y="4893733"/>
            <a:ext cx="2286000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*0 из 2 → внимание, 1 из 2 → повторить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304800" y="5173133"/>
            <a:ext cx="2201333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Статус каждой темы</a:t>
            </a:r>
            <a:endParaRPr lang="en-US" sz="1330" dirty="0"/>
          </a:p>
        </p:txBody>
      </p:sp>
      <p:sp>
        <p:nvSpPr>
          <p:cNvPr id="11" name="Text 9"/>
          <p:cNvSpPr txBox="1"/>
          <p:nvPr/>
        </p:nvSpPr>
        <p:spPr>
          <a:xfrm>
            <a:off x="254000" y="5588000"/>
            <a:ext cx="228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иконка + текст + цвет, не только цвет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725333" y="2243667"/>
            <a:ext cx="4148667" cy="31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208867" y="2667000"/>
            <a:ext cx="5461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Ученик пишет вопрос своими словами. Программа убирает лишние слова, ищет совпадения по корням и выбирает ответ, где совпали самые редкие слова.</a:t>
            </a:r>
            <a:endParaRPr lang="en-US" sz="930" dirty="0"/>
          </a:p>
        </p:txBody>
      </p:sp>
      <p:sp>
        <p:nvSpPr>
          <p:cNvPr id="14" name="Text 12"/>
          <p:cNvSpPr txBox="1"/>
          <p:nvPr/>
        </p:nvSpPr>
        <p:spPr>
          <a:xfrm>
            <a:off x="3556000" y="3318933"/>
            <a:ext cx="2167467" cy="321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 своими словами</a:t>
            </a:r>
            <a:endParaRPr lang="en-US" sz="1130" dirty="0"/>
          </a:p>
        </p:txBody>
      </p:sp>
      <p:sp>
        <p:nvSpPr>
          <p:cNvPr id="15" name="Text 13"/>
          <p:cNvSpPr txBox="1"/>
          <p:nvPr/>
        </p:nvSpPr>
        <p:spPr>
          <a:xfrm>
            <a:off x="3640667" y="3725333"/>
            <a:ext cx="20828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*пусто или «??» → подсказка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842000" y="3302000"/>
            <a:ext cx="2201333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Поиск по корням слов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34667" y="3725333"/>
            <a:ext cx="16086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*редкие слова весят больше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809067" y="4047067"/>
            <a:ext cx="2184400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 + совпавшие слова</a:t>
            </a:r>
            <a:endParaRPr lang="en-US" sz="1130" dirty="0"/>
          </a:p>
        </p:txBody>
      </p:sp>
      <p:sp>
        <p:nvSpPr>
          <p:cNvPr id="19" name="Text 17"/>
          <p:cNvSpPr txBox="1"/>
          <p:nvPr/>
        </p:nvSpPr>
        <p:spPr>
          <a:xfrm>
            <a:off x="8890000" y="2353733"/>
            <a:ext cx="283633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недели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01667" y="2726267"/>
            <a:ext cx="2540000" cy="702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4C4B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Берёт слабые темы, вопросы без ответа, кружки и ментора. Ставит задачи до дедлайнов в свободное время.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296400" y="3708400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Слабые темы + вопросы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736667" y="4131733"/>
            <a:ext cx="1778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*а также кружки и ментор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313333" y="4351867"/>
            <a:ext cx="223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Раскладка до дедлайнов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736667" y="4792133"/>
            <a:ext cx="1794933" cy="16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*после уроков, отдыха и ДЗ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9313333" y="5063067"/>
            <a:ext cx="2269067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Неделя по часам</a:t>
            </a:r>
            <a:endParaRPr lang="en-US" sz="133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5520267"/>
            <a:ext cx="24384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сон не трогаем: после 21:30 задач нет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3132667" y="4741333"/>
            <a:ext cx="584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54545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Функции связаны в один сценарий</a:t>
            </a:r>
            <a:endParaRPr lang="en-US" sz="1470" dirty="0"/>
          </a:p>
        </p:txBody>
      </p:sp>
      <p:sp>
        <p:nvSpPr>
          <p:cNvPr id="28" name="Shape 26"/>
          <p:cNvSpPr/>
          <p:nvPr/>
        </p:nvSpPr>
        <p:spPr>
          <a:xfrm>
            <a:off x="3175000" y="5164667"/>
            <a:ext cx="2032000" cy="592667"/>
          </a:xfrm>
          <a:prstGeom prst="roundRect">
            <a:avLst>
              <a:gd name="adj" fmla="val 18514"/>
            </a:avLst>
          </a:prstGeom>
          <a:solidFill>
            <a:srgbClr val="ECE7FA"/>
          </a:solidFill>
          <a:ln w="15875">
            <a:solidFill>
              <a:srgbClr val="6D5BF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242733" y="5164667"/>
            <a:ext cx="1896533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слабые подтемы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175000" y="5926667"/>
            <a:ext cx="2032000" cy="592667"/>
          </a:xfrm>
          <a:prstGeom prst="roundRect">
            <a:avLst>
              <a:gd name="adj" fmla="val 18514"/>
            </a:avLst>
          </a:prstGeom>
          <a:solidFill>
            <a:srgbClr val="ECE7FA"/>
          </a:solidFill>
          <a:ln w="15875">
            <a:solidFill>
              <a:srgbClr val="6D5B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242733" y="5926667"/>
            <a:ext cx="1896533" cy="592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вопросы без ответа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88667" y="5503333"/>
            <a:ext cx="2286000" cy="677333"/>
          </a:xfrm>
          <a:prstGeom prst="roundRect">
            <a:avLst>
              <a:gd name="adj" fmla="val 16200"/>
            </a:avLst>
          </a:prstGeom>
          <a:solidFill>
            <a:srgbClr val="2A1F7A"/>
          </a:solidFill>
          <a:ln w="15875">
            <a:solidFill>
              <a:srgbClr val="6D5B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56400" y="5503333"/>
            <a:ext cx="21505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ПЛАН НЕДЕЛИ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 дедлайнами и сном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249333" y="5461000"/>
            <a:ext cx="1397000" cy="381000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5249333" y="5842000"/>
            <a:ext cx="1397000" cy="381000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52400" y="0"/>
            <a:ext cx="10854267" cy="982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6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Тестирование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186267" y="1083733"/>
            <a:ext cx="11836400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обязательных теста: ожидаемый и фактический результат совпали. Ещё 13 автотестов проверяют логику программы.</a:t>
            </a:r>
            <a:endParaRPr lang="en-US" sz="1130" dirty="0"/>
          </a:p>
        </p:txBody>
      </p:sp>
      <p:sp>
        <p:nvSpPr>
          <p:cNvPr id="4" name="Text 2"/>
          <p:cNvSpPr txBox="1"/>
          <p:nvPr/>
        </p:nvSpPr>
        <p:spPr>
          <a:xfrm>
            <a:off x="423333" y="1574800"/>
            <a:ext cx="3386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829733" y="1540933"/>
            <a:ext cx="1981200" cy="237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Обычный сценарий 1</a:t>
            </a:r>
            <a:endParaRPr lang="en-US" sz="1070" dirty="0"/>
          </a:p>
        </p:txBody>
      </p:sp>
      <p:sp>
        <p:nvSpPr>
          <p:cNvPr id="6" name="Text 4"/>
          <p:cNvSpPr txBox="1"/>
          <p:nvPr/>
        </p:nvSpPr>
        <p:spPr>
          <a:xfrm>
            <a:off x="491067" y="1794933"/>
            <a:ext cx="226906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 по математике с ошибками в ответах.</a:t>
            </a:r>
            <a:endParaRPr lang="en-US" sz="930" dirty="0"/>
          </a:p>
        </p:txBody>
      </p:sp>
      <p:sp>
        <p:nvSpPr>
          <p:cNvPr id="7" name="Text 5"/>
          <p:cNvSpPr txBox="1"/>
          <p:nvPr/>
        </p:nvSpPr>
        <p:spPr>
          <a:xfrm>
            <a:off x="3217333" y="1778000"/>
            <a:ext cx="37253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1744133"/>
            <a:ext cx="16764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Обычный сценарий 2</a:t>
            </a:r>
            <a:endParaRPr lang="en-US" sz="1070" dirty="0"/>
          </a:p>
        </p:txBody>
      </p:sp>
      <p:sp>
        <p:nvSpPr>
          <p:cNvPr id="9" name="Text 7"/>
          <p:cNvSpPr txBox="1"/>
          <p:nvPr/>
        </p:nvSpPr>
        <p:spPr>
          <a:xfrm>
            <a:off x="3369733" y="2048933"/>
            <a:ext cx="19134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 помощнику своими словами и план недели.</a:t>
            </a:r>
            <a:endParaRPr lang="en-US" sz="930" dirty="0"/>
          </a:p>
        </p:txBody>
      </p:sp>
      <p:sp>
        <p:nvSpPr>
          <p:cNvPr id="10" name="Text 8"/>
          <p:cNvSpPr txBox="1"/>
          <p:nvPr/>
        </p:nvSpPr>
        <p:spPr>
          <a:xfrm>
            <a:off x="762000" y="2760133"/>
            <a:ext cx="355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85333" y="2726267"/>
            <a:ext cx="1642533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Граничный случай</a:t>
            </a:r>
            <a:endParaRPr lang="en-US" sz="1070" dirty="0"/>
          </a:p>
        </p:txBody>
      </p:sp>
      <p:sp>
        <p:nvSpPr>
          <p:cNvPr id="12" name="Text 10"/>
          <p:cNvSpPr txBox="1"/>
          <p:nvPr/>
        </p:nvSpPr>
        <p:spPr>
          <a:xfrm>
            <a:off x="626533" y="3031067"/>
            <a:ext cx="21505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Третий кружок при лимите 2, сон 7 часов.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861733"/>
            <a:ext cx="355600" cy="1862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623733" y="2827867"/>
            <a:ext cx="1710267" cy="270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Ошибочный ввод</a:t>
            </a:r>
            <a:endParaRPr lang="en-US" sz="1070" dirty="0"/>
          </a:p>
        </p:txBody>
      </p:sp>
      <p:sp>
        <p:nvSpPr>
          <p:cNvPr id="15" name="Text 13"/>
          <p:cNvSpPr txBox="1"/>
          <p:nvPr/>
        </p:nvSpPr>
        <p:spPr>
          <a:xfrm>
            <a:off x="3268133" y="3115733"/>
            <a:ext cx="2015067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3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Пустая анкета, цифры в имени, текст вместо числа.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508000" y="3962400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Пустой ввод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8000" y="4538133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Текст вместо числа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8000" y="5096933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Лимиты и пересечения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08000" y="5655733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Дедлайны и сон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08000" y="6214533"/>
            <a:ext cx="2878667" cy="338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Вопрос без ответа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852333" y="3979333"/>
            <a:ext cx="423333" cy="2709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</a:t>
            </a:r>
            <a:endParaRPr lang="en-US" sz="26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26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</a:t>
            </a:r>
            <a:endParaRPr lang="en-US" sz="26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26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</a:t>
            </a:r>
            <a:endParaRPr lang="en-US" sz="26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26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</a:t>
            </a:r>
            <a:endParaRPr lang="en-US" sz="26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26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Ы</a:t>
            </a:r>
            <a:endParaRPr lang="en-US" sz="2670" dirty="0"/>
          </a:p>
        </p:txBody>
      </p:sp>
      <p:sp>
        <p:nvSpPr>
          <p:cNvPr id="22" name="Text 20"/>
          <p:cNvSpPr txBox="1"/>
          <p:nvPr/>
        </p:nvSpPr>
        <p:spPr>
          <a:xfrm>
            <a:off x="4419600" y="3911600"/>
            <a:ext cx="321733" cy="2861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е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</a:t>
            </a:r>
            <a:endParaRPr lang="en-US" sz="133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</a:t>
            </a:r>
            <a:endParaRPr lang="en-US" sz="1330" dirty="0"/>
          </a:p>
        </p:txBody>
      </p:sp>
      <p:sp>
        <p:nvSpPr>
          <p:cNvPr id="23" name="Text 21"/>
          <p:cNvSpPr txBox="1"/>
          <p:nvPr/>
        </p:nvSpPr>
        <p:spPr>
          <a:xfrm>
            <a:off x="5588000" y="1659467"/>
            <a:ext cx="2751667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Сценарий</a:t>
            </a:r>
            <a:endParaRPr lang="en-US" sz="1470" dirty="0"/>
          </a:p>
        </p:txBody>
      </p:sp>
      <p:sp>
        <p:nvSpPr>
          <p:cNvPr id="24" name="Text 22"/>
          <p:cNvSpPr txBox="1"/>
          <p:nvPr/>
        </p:nvSpPr>
        <p:spPr>
          <a:xfrm>
            <a:off x="8424333" y="1659467"/>
            <a:ext cx="17780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Ожидаемый</a:t>
            </a:r>
            <a:endParaRPr lang="en-US" sz="1330" dirty="0"/>
          </a:p>
        </p:txBody>
      </p:sp>
      <p:sp>
        <p:nvSpPr>
          <p:cNvPr id="25" name="Text 23"/>
          <p:cNvSpPr txBox="1"/>
          <p:nvPr/>
        </p:nvSpPr>
        <p:spPr>
          <a:xfrm>
            <a:off x="10287000" y="1659467"/>
            <a:ext cx="1752600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Фактический</a:t>
            </a:r>
            <a:endParaRPr lang="en-US" sz="1330" dirty="0"/>
          </a:p>
        </p:txBody>
      </p:sp>
      <p:sp>
        <p:nvSpPr>
          <p:cNvPr id="26" name="Text 24"/>
          <p:cNvSpPr txBox="1"/>
          <p:nvPr/>
        </p:nvSpPr>
        <p:spPr>
          <a:xfrm>
            <a:off x="5655733" y="2506133"/>
            <a:ext cx="2641600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Обычный: диагностика, в ответах 4 ошибки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49733" y="2506133"/>
            <a:ext cx="1727200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из 10, «Проценты: требует внимания»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10312400" y="2506133"/>
            <a:ext cx="16933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10, статусы совпали</a:t>
            </a:r>
            <a:endParaRPr lang="en-US" sz="930" dirty="0"/>
          </a:p>
        </p:txBody>
      </p:sp>
      <p:sp>
        <p:nvSpPr>
          <p:cNvPr id="29" name="Text 27"/>
          <p:cNvSpPr txBox="1"/>
          <p:nvPr/>
        </p:nvSpPr>
        <p:spPr>
          <a:xfrm>
            <a:off x="5655733" y="3183467"/>
            <a:ext cx="2641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Обычный: «я болел и не написал соч»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449733" y="3183467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Ответ про пропуск СОР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10312400" y="3183467"/>
            <a:ext cx="1693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Нашёл, совпали: болел, соч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5655733" y="3843867"/>
            <a:ext cx="26416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Граничный: добавить 3-й кружок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449733" y="3843867"/>
            <a:ext cx="17272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 добавится, будет причина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10312400" y="3843867"/>
            <a:ext cx="1693333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«Уже выбрано 2 кружка»</a:t>
            </a:r>
            <a:endParaRPr lang="en-US" sz="930" dirty="0"/>
          </a:p>
        </p:txBody>
      </p:sp>
      <p:sp>
        <p:nvSpPr>
          <p:cNvPr id="35" name="Text 33"/>
          <p:cNvSpPr txBox="1"/>
          <p:nvPr/>
        </p:nvSpPr>
        <p:spPr>
          <a:xfrm>
            <a:off x="5655733" y="4504267"/>
            <a:ext cx="2641600" cy="99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Ошибочный: пустая анкета, «Ай123», «пятнадцать»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449733" y="4504267"/>
            <a:ext cx="1727200" cy="99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Понятные ошибки, данные не сохранятся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10312400" y="4504267"/>
            <a:ext cx="1693333" cy="9990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«Напиши имя», «Только буквы», «Нужно число»</a:t>
            </a:r>
            <a:endParaRPr lang="en-US" sz="930" dirty="0"/>
          </a:p>
        </p:txBody>
      </p:sp>
      <p:sp>
        <p:nvSpPr>
          <p:cNvPr id="38" name="Text 36"/>
          <p:cNvSpPr txBox="1"/>
          <p:nvPr/>
        </p:nvSpPr>
        <p:spPr>
          <a:xfrm>
            <a:off x="5655733" y="5503333"/>
            <a:ext cx="26416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+ 13 автотестов логики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449733" y="5503333"/>
            <a:ext cx="17272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Все проходят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10312400" y="5503333"/>
            <a:ext cx="1693333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b="1" dirty="0">
                <a:solidFill>
                  <a:srgbClr val="1770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13 из 13 пройдено</a:t>
            </a:r>
            <a:endParaRPr lang="en-US" sz="9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8000" y="186267"/>
            <a:ext cx="11345333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5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Компас </a:t>
            </a:r>
            <a:pPr algn="ctr" indent="0" marL="0">
              <a:lnSpc>
                <a:spcPct val="105000"/>
              </a:lnSpc>
              <a:buNone/>
            </a:pPr>
            <a:r>
              <a:rPr lang="en-US" sz="53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победит?</a:t>
            </a:r>
            <a:endParaRPr lang="en-US" sz="5330" dirty="0"/>
          </a:p>
        </p:txBody>
      </p:sp>
      <p:sp>
        <p:nvSpPr>
          <p:cNvPr id="3" name="Text 1"/>
          <p:cNvSpPr txBox="1"/>
          <p:nvPr/>
        </p:nvSpPr>
        <p:spPr>
          <a:xfrm>
            <a:off x="677333" y="1016000"/>
            <a:ext cx="10837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70" b="1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не просто показываем расписание. Мы превращаем первую неделю в понятный план.</a:t>
            </a:r>
            <a:endParaRPr lang="en-US" sz="1470" dirty="0"/>
          </a:p>
        </p:txBody>
      </p:sp>
      <p:sp>
        <p:nvSpPr>
          <p:cNvPr id="4" name="Text 2"/>
          <p:cNvSpPr txBox="1"/>
          <p:nvPr/>
        </p:nvSpPr>
        <p:spPr>
          <a:xfrm>
            <a:off x="846667" y="1371600"/>
            <a:ext cx="2540000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87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Растёт сам</a:t>
            </a:r>
            <a:endParaRPr lang="en-US" sz="1870" dirty="0"/>
          </a:p>
        </p:txBody>
      </p:sp>
      <p:sp>
        <p:nvSpPr>
          <p:cNvPr id="5" name="Text 3"/>
          <p:cNvSpPr txBox="1"/>
          <p:nvPr/>
        </p:nvSpPr>
        <p:spPr>
          <a:xfrm>
            <a:off x="338667" y="1727200"/>
            <a:ext cx="2455333" cy="897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2424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Каждый вопрос новичка делает Компас умнее для следующего набора.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86562" y="2821144"/>
            <a:ext cx="840782" cy="610864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H="1">
            <a:off x="5981361" y="4278884"/>
            <a:ext cx="321150" cy="988398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4221702" y="5790681"/>
            <a:ext cx="1039264" cy="9144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 flipV="1">
            <a:off x="3180156" y="4278884"/>
            <a:ext cx="321150" cy="988398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3455322" y="2821144"/>
            <a:ext cx="840782" cy="610864"/>
          </a:xfrm>
          <a:prstGeom prst="line">
            <a:avLst/>
          </a:prstGeom>
          <a:noFill/>
          <a:ln w="31750">
            <a:solidFill>
              <a:srgbClr val="6D5BF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01067" y="2057400"/>
            <a:ext cx="880533" cy="880533"/>
          </a:xfrm>
          <a:prstGeom prst="ellipse">
            <a:avLst/>
          </a:prstGeom>
          <a:solidFill>
            <a:srgbClr val="2A1F7A"/>
          </a:solidFill>
          <a:ln w="25400">
            <a:solidFill>
              <a:srgbClr val="6D5BF0"/>
            </a:solidFill>
            <a:prstDash val="solid"/>
          </a:ln>
          <a:effectLst>
            <a:outerShdw sx="100000" sy="100000" kx="0" ky="0" algn="bl" rotWithShape="0" blurRad="101600" dist="25400" dir="5400000">
              <a:srgbClr val="3B35D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301067" y="2057400"/>
            <a:ext cx="880533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810000" y="1566333"/>
            <a:ext cx="1862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Новичок задаёт вопрос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2307" y="3315219"/>
            <a:ext cx="880533" cy="880533"/>
          </a:xfrm>
          <a:prstGeom prst="ellipse">
            <a:avLst/>
          </a:prstGeom>
          <a:solidFill>
            <a:srgbClr val="2A1F7A"/>
          </a:solidFill>
          <a:ln w="25400">
            <a:solidFill>
              <a:srgbClr val="6D5BF0"/>
            </a:solidFill>
            <a:prstDash val="solid"/>
          </a:ln>
          <a:effectLst>
            <a:outerShdw sx="100000" sy="100000" kx="0" ky="0" algn="bl" rotWithShape="0" blurRad="101600" dist="25400" dir="5400000">
              <a:srgbClr val="3B35D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032307" y="3315219"/>
            <a:ext cx="880533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541240" y="2824153"/>
            <a:ext cx="1862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Нет ответа: вопрос уходит куратору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71032" y="5350414"/>
            <a:ext cx="880533" cy="880533"/>
          </a:xfrm>
          <a:prstGeom prst="ellipse">
            <a:avLst/>
          </a:prstGeom>
          <a:solidFill>
            <a:srgbClr val="2A1F7A"/>
          </a:solidFill>
          <a:ln w="25400">
            <a:solidFill>
              <a:srgbClr val="6D5BF0"/>
            </a:solidFill>
            <a:prstDash val="solid"/>
          </a:ln>
          <a:effectLst>
            <a:outerShdw sx="100000" sy="100000" kx="0" ky="0" algn="bl" rotWithShape="0" blurRad="101600" dist="25400" dir="5400000">
              <a:srgbClr val="3B35D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371032" y="5350414"/>
            <a:ext cx="880533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879965" y="6264814"/>
            <a:ext cx="1862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Завуч добавляет ответ в базу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31102" y="5350414"/>
            <a:ext cx="880533" cy="880533"/>
          </a:xfrm>
          <a:prstGeom prst="ellipse">
            <a:avLst/>
          </a:prstGeom>
          <a:solidFill>
            <a:srgbClr val="2A1F7A"/>
          </a:solidFill>
          <a:ln w="25400">
            <a:solidFill>
              <a:srgbClr val="6D5BF0"/>
            </a:solidFill>
            <a:prstDash val="solid"/>
          </a:ln>
          <a:effectLst>
            <a:outerShdw sx="100000" sy="100000" kx="0" ky="0" algn="bl" rotWithShape="0" blurRad="101600" dist="25400" dir="5400000">
              <a:srgbClr val="3B35D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231102" y="5350414"/>
            <a:ext cx="880533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2740035" y="6264814"/>
            <a:ext cx="1862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Следующий набор получает ответ сразу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9827" y="3315219"/>
            <a:ext cx="880533" cy="880533"/>
          </a:xfrm>
          <a:prstGeom prst="ellipse">
            <a:avLst/>
          </a:prstGeom>
          <a:solidFill>
            <a:srgbClr val="2A1F7A"/>
          </a:solidFill>
          <a:ln w="25400">
            <a:solidFill>
              <a:srgbClr val="6D5BF0"/>
            </a:solidFill>
            <a:prstDash val="solid"/>
          </a:ln>
          <a:effectLst>
            <a:outerShdw sx="100000" sy="100000" kx="0" ky="0" algn="bl" rotWithShape="0" blurRad="101600" dist="25400" dir="5400000">
              <a:srgbClr val="3B35D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569827" y="3315219"/>
            <a:ext cx="880533" cy="8805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2078760" y="2824153"/>
            <a:ext cx="1862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Через 3 года новичок сам ментор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979333" y="4106333"/>
            <a:ext cx="15240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Компас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50667" y="1371600"/>
            <a:ext cx="4656667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Компас против привычного</a:t>
            </a:r>
            <a:endParaRPr lang="en-US" sz="173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50667" y="1735667"/>
          <a:ext cx="4614333" cy="914400"/>
        </p:xfrm>
        <a:graphic>
          <a:graphicData uri="http://schemas.openxmlformats.org/drawingml/2006/table">
            <a:tbl>
              <a:tblPr/>
              <a:tblGrid>
                <a:gridCol w="1651000"/>
                <a:gridCol w="1058333"/>
                <a:gridCol w="846667"/>
                <a:gridCol w="1058333"/>
              </a:tblGrid>
              <a:tr h="3725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Что нужно новичку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Сайт, чат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Журнал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Компас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A5C"/>
                    </a:solidFill>
                  </a:tcPr>
                </a:tc>
              </a:tr>
              <a:tr h="3725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Кабинеты и этажи по моему классу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частично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704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Есть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</a:tr>
              <a:tr h="3725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ФО, СОР, СОЧ простыми словами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как повезёт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704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RU и KZ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</a:tr>
              <a:tr h="3725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Какие темы подтянуть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704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По подтемам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</a:tr>
              <a:tr h="37253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2143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План недели со сном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0263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Нет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7704A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Есть</a:t>
                      </a:r>
                      <a:endParaRPr lang="en-US" sz="105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B"/>
                    </a:solidFill>
                  </a:tcPr>
                </a:tc>
              </a:tr>
            </a:tbl>
          </a:graphicData>
        </a:graphic>
      </p:graphicFrame>
      <p:sp>
        <p:nvSpPr>
          <p:cNvPr id="29" name="Text 26"/>
          <p:cNvSpPr txBox="1"/>
          <p:nvPr/>
        </p:nvSpPr>
        <p:spPr>
          <a:xfrm>
            <a:off x="7450667" y="3826933"/>
            <a:ext cx="4656667" cy="287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Реалистичный запуск</a:t>
            </a:r>
            <a:endParaRPr lang="en-US" sz="1730" dirty="0"/>
          </a:p>
        </p:txBody>
      </p:sp>
      <p:sp>
        <p:nvSpPr>
          <p:cNvPr id="30" name="Shape 27"/>
          <p:cNvSpPr/>
          <p:nvPr/>
        </p:nvSpPr>
        <p:spPr>
          <a:xfrm>
            <a:off x="7467600" y="6180667"/>
            <a:ext cx="846667" cy="592667"/>
          </a:xfrm>
          <a:prstGeom prst="roundRect">
            <a:avLst>
              <a:gd name="adj" fmla="val 12343"/>
            </a:avLst>
          </a:prstGeom>
          <a:solidFill>
            <a:srgbClr val="2A1F7A">
              <a:alpha val="92000"/>
            </a:srgbClr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467600" y="6231467"/>
            <a:ext cx="8466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7501467" y="6434667"/>
            <a:ext cx="7789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Прототип работает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8398933" y="5825067"/>
            <a:ext cx="846667" cy="948267"/>
          </a:xfrm>
          <a:prstGeom prst="roundRect">
            <a:avLst>
              <a:gd name="adj" fmla="val 8640"/>
            </a:avLst>
          </a:prstGeom>
          <a:solidFill>
            <a:srgbClr val="2A1F7A">
              <a:alpha val="92000"/>
            </a:srgbClr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98933" y="5875867"/>
            <a:ext cx="8466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8432800" y="6079067"/>
            <a:ext cx="778933" cy="643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в 1 школе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9330267" y="5469467"/>
            <a:ext cx="846667" cy="1303867"/>
          </a:xfrm>
          <a:prstGeom prst="roundRect">
            <a:avLst>
              <a:gd name="adj" fmla="val 8640"/>
            </a:avLst>
          </a:prstGeom>
          <a:solidFill>
            <a:srgbClr val="2A1F7A">
              <a:alpha val="92000"/>
            </a:srgbClr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330267" y="5520267"/>
            <a:ext cx="8466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9364133" y="5723467"/>
            <a:ext cx="778933" cy="999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Своё расписание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10261600" y="5113867"/>
            <a:ext cx="846667" cy="1659467"/>
          </a:xfrm>
          <a:prstGeom prst="roundRect">
            <a:avLst>
              <a:gd name="adj" fmla="val 8640"/>
            </a:avLst>
          </a:prstGeom>
          <a:solidFill>
            <a:srgbClr val="2A1F7A">
              <a:alpha val="92000"/>
            </a:srgbClr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0261600" y="5164667"/>
            <a:ext cx="8466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10295467" y="5367867"/>
            <a:ext cx="778933" cy="1354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школ НИШ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11192933" y="4758267"/>
            <a:ext cx="846667" cy="2015067"/>
          </a:xfrm>
          <a:prstGeom prst="roundRect">
            <a:avLst>
              <a:gd name="adj" fmla="val 8640"/>
            </a:avLst>
          </a:prstGeom>
          <a:solidFill>
            <a:srgbClr val="3B35D0">
              <a:alpha val="92000"/>
            </a:srgbClr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1192933" y="4809067"/>
            <a:ext cx="846667" cy="22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Text 41"/>
          <p:cNvSpPr txBox="1"/>
          <p:nvPr/>
        </p:nvSpPr>
        <p:spPr>
          <a:xfrm>
            <a:off x="11226800" y="5012267"/>
            <a:ext cx="778933" cy="1710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Сеть школ с отбором</a:t>
            </a:r>
            <a:endParaRPr lang="en-US" sz="850" dirty="0"/>
          </a:p>
        </p:txBody>
      </p:sp>
      <p:sp>
        <p:nvSpPr>
          <p:cNvPr id="45" name="Text 42"/>
          <p:cNvSpPr txBox="1"/>
          <p:nvPr/>
        </p:nvSpPr>
        <p:spPr>
          <a:xfrm>
            <a:off x="338667" y="6519333"/>
            <a:ext cx="2709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compass7-nis.vercel.app</a:t>
            </a:r>
            <a:endParaRPr lang="en-US" sz="13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46667" y="152400"/>
            <a:ext cx="10498667" cy="541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33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Команда, источники и следующий шаг</a:t>
            </a:r>
            <a:endParaRPr lang="en-US" sz="3330" dirty="0"/>
          </a:p>
        </p:txBody>
      </p:sp>
      <p:sp>
        <p:nvSpPr>
          <p:cNvPr id="3" name="Text 1"/>
          <p:cNvSpPr txBox="1"/>
          <p:nvPr/>
        </p:nvSpPr>
        <p:spPr>
          <a:xfrm rot="16200000">
            <a:off x="-2726267" y="3776133"/>
            <a:ext cx="567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КОМАНДА ASTRA · 4 УЧАСТНИКА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38667" y="1016000"/>
            <a:ext cx="2286000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УЧАСТНИК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92400" y="1016000"/>
            <a:ext cx="1608667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РОЛЬ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368800" y="1016000"/>
            <a:ext cx="1185333" cy="67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ВКЛАД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2533" y="1828800"/>
            <a:ext cx="22352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(Имя)</a:t>
            </a:r>
            <a:endParaRPr lang="en-US" sz="1330" dirty="0"/>
          </a:p>
        </p:txBody>
      </p:sp>
      <p:sp>
        <p:nvSpPr>
          <p:cNvPr id="8" name="Text 6"/>
          <p:cNvSpPr txBox="1"/>
          <p:nvPr/>
        </p:nvSpPr>
        <p:spPr>
          <a:xfrm>
            <a:off x="2726267" y="1828800"/>
            <a:ext cx="1557867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Капитан, продукт</a:t>
            </a:r>
            <a:endParaRPr lang="en-US" sz="1070" dirty="0"/>
          </a:p>
        </p:txBody>
      </p:sp>
      <p:sp>
        <p:nvSpPr>
          <p:cNvPr id="9" name="Text 7"/>
          <p:cNvSpPr txBox="1"/>
          <p:nvPr/>
        </p:nvSpPr>
        <p:spPr>
          <a:xfrm>
            <a:off x="4402667" y="1828800"/>
            <a:ext cx="1117600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проблема, интервью</a:t>
            </a:r>
            <a:endParaRPr lang="en-US" sz="870" dirty="0"/>
          </a:p>
        </p:txBody>
      </p:sp>
      <p:sp>
        <p:nvSpPr>
          <p:cNvPr id="10" name="Text 8"/>
          <p:cNvSpPr txBox="1"/>
          <p:nvPr/>
        </p:nvSpPr>
        <p:spPr>
          <a:xfrm>
            <a:off x="372533" y="2692400"/>
            <a:ext cx="2235200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(Имя)</a:t>
            </a:r>
            <a:endParaRPr lang="en-US" sz="1330" dirty="0"/>
          </a:p>
        </p:txBody>
      </p:sp>
      <p:sp>
        <p:nvSpPr>
          <p:cNvPr id="11" name="Text 9"/>
          <p:cNvSpPr txBox="1"/>
          <p:nvPr/>
        </p:nvSpPr>
        <p:spPr>
          <a:xfrm>
            <a:off x="2726267" y="2692400"/>
            <a:ext cx="1557867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Логика</a:t>
            </a:r>
            <a:endParaRPr lang="en-US" sz="1070" dirty="0"/>
          </a:p>
        </p:txBody>
      </p:sp>
      <p:sp>
        <p:nvSpPr>
          <p:cNvPr id="12" name="Text 10"/>
          <p:cNvSpPr txBox="1"/>
          <p:nvPr/>
        </p:nvSpPr>
        <p:spPr>
          <a:xfrm>
            <a:off x="4402667" y="2692400"/>
            <a:ext cx="1117600" cy="93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диагностика, помощник, планер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372533" y="3623733"/>
            <a:ext cx="2235200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(Имя)</a:t>
            </a:r>
            <a:endParaRPr lang="en-US" sz="1330" dirty="0"/>
          </a:p>
        </p:txBody>
      </p:sp>
      <p:sp>
        <p:nvSpPr>
          <p:cNvPr id="14" name="Text 12"/>
          <p:cNvSpPr txBox="1"/>
          <p:nvPr/>
        </p:nvSpPr>
        <p:spPr>
          <a:xfrm>
            <a:off x="2726267" y="3623733"/>
            <a:ext cx="1557867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Интерфейс</a:t>
            </a:r>
            <a:endParaRPr lang="en-US" sz="1070" dirty="0"/>
          </a:p>
        </p:txBody>
      </p:sp>
      <p:sp>
        <p:nvSpPr>
          <p:cNvPr id="15" name="Text 13"/>
          <p:cNvSpPr txBox="1"/>
          <p:nvPr/>
        </p:nvSpPr>
        <p:spPr>
          <a:xfrm>
            <a:off x="4402667" y="3623733"/>
            <a:ext cx="1117600" cy="7958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экраны, дизайн, RU/KZ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372533" y="4419600"/>
            <a:ext cx="22352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(Имя)</a:t>
            </a:r>
            <a:endParaRPr lang="en-US" sz="1330" dirty="0"/>
          </a:p>
        </p:txBody>
      </p:sp>
      <p:sp>
        <p:nvSpPr>
          <p:cNvPr id="17" name="Text 15"/>
          <p:cNvSpPr txBox="1"/>
          <p:nvPr/>
        </p:nvSpPr>
        <p:spPr>
          <a:xfrm>
            <a:off x="2726267" y="4419600"/>
            <a:ext cx="1557867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Тесты, исследование</a:t>
            </a:r>
            <a:endParaRPr lang="en-US" sz="1070" dirty="0"/>
          </a:p>
        </p:txBody>
      </p:sp>
      <p:sp>
        <p:nvSpPr>
          <p:cNvPr id="18" name="Text 16"/>
          <p:cNvSpPr txBox="1"/>
          <p:nvPr/>
        </p:nvSpPr>
        <p:spPr>
          <a:xfrm>
            <a:off x="4402667" y="4419600"/>
            <a:ext cx="11176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теста, опрос, слайды</a:t>
            </a:r>
            <a:endParaRPr lang="en-US" sz="870" dirty="0"/>
          </a:p>
        </p:txBody>
      </p:sp>
      <p:sp>
        <p:nvSpPr>
          <p:cNvPr id="19" name="Text 17"/>
          <p:cNvSpPr txBox="1"/>
          <p:nvPr/>
        </p:nvSpPr>
        <p:spPr>
          <a:xfrm>
            <a:off x="372533" y="5198533"/>
            <a:ext cx="22352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Вся команда</a:t>
            </a:r>
            <a:endParaRPr lang="en-US" sz="1330" dirty="0"/>
          </a:p>
        </p:txBody>
      </p:sp>
      <p:sp>
        <p:nvSpPr>
          <p:cNvPr id="20" name="Text 18"/>
          <p:cNvSpPr txBox="1"/>
          <p:nvPr/>
        </p:nvSpPr>
        <p:spPr>
          <a:xfrm>
            <a:off x="2726267" y="5198533"/>
            <a:ext cx="1557867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Демо и защита</a:t>
            </a:r>
            <a:endParaRPr lang="en-US" sz="1070" dirty="0"/>
          </a:p>
        </p:txBody>
      </p:sp>
      <p:sp>
        <p:nvSpPr>
          <p:cNvPr id="21" name="Text 19"/>
          <p:cNvSpPr txBox="1"/>
          <p:nvPr/>
        </p:nvSpPr>
        <p:spPr>
          <a:xfrm>
            <a:off x="4402667" y="5198533"/>
            <a:ext cx="1117600" cy="778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сценарий показа</a:t>
            </a:r>
            <a:endParaRPr lang="en-US" sz="870" dirty="0"/>
          </a:p>
        </p:txBody>
      </p:sp>
      <p:sp>
        <p:nvSpPr>
          <p:cNvPr id="22" name="Text 20"/>
          <p:cNvSpPr txBox="1"/>
          <p:nvPr/>
        </p:nvSpPr>
        <p:spPr>
          <a:xfrm>
            <a:off x="372533" y="5977467"/>
            <a:ext cx="2235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ИИ: Claude Code</a:t>
            </a:r>
            <a:endParaRPr lang="en-US" sz="1330" dirty="0"/>
          </a:p>
        </p:txBody>
      </p:sp>
      <p:sp>
        <p:nvSpPr>
          <p:cNvPr id="23" name="Text 21"/>
          <p:cNvSpPr txBox="1"/>
          <p:nvPr/>
        </p:nvSpPr>
        <p:spPr>
          <a:xfrm>
            <a:off x="2726267" y="5977467"/>
            <a:ext cx="155786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помощник в коде</a:t>
            </a:r>
            <a:endParaRPr lang="en-US" sz="1070" dirty="0"/>
          </a:p>
        </p:txBody>
      </p:sp>
      <p:sp>
        <p:nvSpPr>
          <p:cNvPr id="24" name="Text 22"/>
          <p:cNvSpPr txBox="1"/>
          <p:nvPr/>
        </p:nvSpPr>
        <p:spPr>
          <a:xfrm>
            <a:off x="4402667" y="5977467"/>
            <a:ext cx="1117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мы проверили и объясняем</a:t>
            </a:r>
            <a:endParaRPr lang="en-US" sz="870" dirty="0"/>
          </a:p>
        </p:txBody>
      </p:sp>
      <p:sp>
        <p:nvSpPr>
          <p:cNvPr id="25" name="Text 23"/>
          <p:cNvSpPr txBox="1"/>
          <p:nvPr/>
        </p:nvSpPr>
        <p:spPr>
          <a:xfrm>
            <a:off x="5842000" y="846667"/>
            <a:ext cx="186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ИСТОЧНИК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789333" y="846667"/>
            <a:ext cx="186266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ЧТО ВЗЯЛИ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736667" y="846667"/>
            <a:ext cx="18457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ГДЕ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892800" y="1354667"/>
            <a:ext cx="17780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nis.edu.kz, pedagog-kz.kz, Википедия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840133" y="1354667"/>
            <a:ext cx="1778000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цифры отбора и число учеников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9787467" y="1354667"/>
            <a:ext cx="1761067" cy="1100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слайды 2 и 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892800" y="24553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Galton, Gray &amp; Ruddock, 1999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840133" y="24553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исследование о смене школы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787467" y="2455333"/>
            <a:ext cx="176106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слайд 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892800" y="31157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Code, Vercel, Google Fonts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7840133" y="3115733"/>
            <a:ext cx="17780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помощь в коде, хостинг, шрифты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787467" y="3115733"/>
            <a:ext cx="176106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сайт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926667" y="3979333"/>
            <a:ext cx="3132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3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Почему HTML, CSS и JavaScript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5926667" y="4360333"/>
            <a:ext cx="1507067" cy="1016000"/>
          </a:xfrm>
          <a:prstGeom prst="roundRect">
            <a:avLst>
              <a:gd name="adj" fmla="val 10800"/>
            </a:avLst>
          </a:prstGeom>
          <a:solidFill>
            <a:srgbClr val="2A1F7A"/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994400" y="4360333"/>
            <a:ext cx="1371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Без сервера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открыл и работает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7535333" y="4360333"/>
            <a:ext cx="1507067" cy="1016000"/>
          </a:xfrm>
          <a:prstGeom prst="roundRect">
            <a:avLst>
              <a:gd name="adj" fmla="val 10800"/>
            </a:avLst>
          </a:prstGeom>
          <a:solidFill>
            <a:srgbClr val="2A1F7A"/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03067" y="4360333"/>
            <a:ext cx="1371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Работает офлайн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один файл index.html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926667" y="5503333"/>
            <a:ext cx="1507067" cy="1016000"/>
          </a:xfrm>
          <a:prstGeom prst="roundRect">
            <a:avLst>
              <a:gd name="adj" fmla="val 10800"/>
            </a:avLst>
          </a:prstGeom>
          <a:solidFill>
            <a:srgbClr val="2A1F7A"/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94400" y="5503333"/>
            <a:ext cx="1371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Бесплатно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хостинг Vercel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535333" y="5503333"/>
            <a:ext cx="1507067" cy="1016000"/>
          </a:xfrm>
          <a:prstGeom prst="roundRect">
            <a:avLst>
              <a:gd name="adj" fmla="val 10800"/>
            </a:avLst>
          </a:prstGeom>
          <a:solidFill>
            <a:srgbClr val="2A1F7A"/>
          </a:solidFill>
          <a:ln w="12700">
            <a:solidFill>
              <a:srgbClr val="6D5B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603067" y="5503333"/>
            <a:ext cx="1371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Код объясним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0D7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каждую строку разберём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186333" y="3979333"/>
            <a:ext cx="2921000" cy="2074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Ограничения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расписание примерное, диагностика только по математике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3B35D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Следующий шаг</a:t>
            </a:r>
            <a:endParaRPr lang="en-US" sz="16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пилот в нашей школе с реальным расписанием и ответами от завуча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9144000" y="6163733"/>
            <a:ext cx="298026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2143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Спасибо! compass7-nis.vercel.app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Компас: адаптация семиклассников НИШ</dc:title>
  <dc:subject>PptxGenJS Presentation</dc:subject>
  <dc:creator>PptxGenJS</dc:creator>
  <cp:lastModifiedBy>PptxGenJS</cp:lastModifiedBy>
  <cp:revision>1</cp:revision>
  <dcterms:created xsi:type="dcterms:W3CDTF">2026-09-25T03:39:35Z</dcterms:created>
  <dcterms:modified xsi:type="dcterms:W3CDTF">2026-09-25T03:39:35Z</dcterms:modified>
</cp:coreProperties>
</file>