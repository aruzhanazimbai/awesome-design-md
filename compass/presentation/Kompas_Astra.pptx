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Претендентов на грант</c:v>
                </c:pt>
              </c:strCache>
            </c:strRef>
          </c:tx>
          <c:spPr>
            <a:solidFill>
              <a:srgbClr val="3B35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143A"/>
                    </a:solidFill>
                    <a:latin typeface="Montserra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Семей</c:v>
                  </c:pt>
                  <c:pt idx="1">
                    <c:v>Шымкент</c:v>
                  </c:pt>
                  <c:pt idx="2">
                    <c:v>Астана</c:v>
                  </c:pt>
                  <c:pt idx="3">
                    <c:v>Алматы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</c:v>
                </c:pt>
                <c:pt idx="1">
                  <c:v>10.2</c:v>
                </c:pt>
                <c:pt idx="2">
                  <c:v>13</c:v>
                </c:pt>
                <c:pt idx="3">
                  <c:v>15.3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2143A"/>
                  </a:solidFill>
                  <a:latin typeface="Montserra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4AAD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 планом, %</c:v>
                </c:pt>
              </c:strCache>
            </c:strRef>
          </c:tx>
          <c:spPr>
            <a:solidFill>
              <a:srgbClr val="C084FC"/>
            </a:solidFill>
            <a:ln w="38100" cap="flat">
              <a:solidFill>
                <a:srgbClr val="C084F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B35D0"/>
                    </a:solidFill>
                    <a:latin typeface="Montserra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C084FC"/>
              </a:solidFill>
              <a:ln w="9525" cap="flat">
                <a:solidFill>
                  <a:srgbClr val="C084F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Неделя 1</c:v>
                  </c:pt>
                  <c:pt idx="1">
                    <c:v>Неделя 2</c:v>
                  </c:pt>
                  <c:pt idx="2">
                    <c:v>Неделя 3</c:v>
                  </c:pt>
                  <c:pt idx="3">
                    <c:v>Неделя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90</c:v>
                </c:pt>
                <c:pt idx="2">
                  <c:v>95</c:v>
                </c:pt>
                <c:pt idx="3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B35D0"/>
                  </a:solidFill>
                  <a:latin typeface="Montserra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5454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Доход 2-го года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F7DF9"/>
              </a:solidFill>
              <a:effectLst/>
            </c:spPr>
          </c:dPt>
          <c:dPt>
            <c:idx val="1"/>
            <c:bubble3D val="0"/>
            <c:spPr>
              <a:solidFill>
                <a:srgbClr val="B69CF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Montserra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Montserra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Лицензии школ</c:v>
                </c:pt>
                <c:pt idx="1">
                  <c:v>Сеть школ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1000000</c:v>
                </c:pt>
                <c:pt idx="1">
                  <c:v>300000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Montserrat"/>
              <a:cs typeface="Montserra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слоган, три цифры пилота. Картинку телефона справа замените на скриншот главной «Сәлем, Айгерим!».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с источниками. Цитату Айданы Тулегеновны вставьте в правый верхний блок дословно.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телефона замените скриншотами: диагностика (таблица подтем), помощник (ответ с «Совпали слова»), план недели.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проценты воронки: допущения для пилота в одной школе. Уточните число 7 классов и учеников.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Расходы 2-го года: хостинг ~120 000, домен 10 000, печать для 5 школ 100 000, менторы 100 000 = ~330 000 ₸. Все цены проверить.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2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6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7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1600"/>
            <a:ext cx="1574800" cy="389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330" b="1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Astra</a:t>
            </a:r>
            <a:endParaRPr lang="en-US" sz="2330" dirty="0"/>
          </a:p>
        </p:txBody>
      </p:sp>
      <p:sp>
        <p:nvSpPr>
          <p:cNvPr id="3" name="Text 1"/>
          <p:cNvSpPr txBox="1"/>
          <p:nvPr/>
        </p:nvSpPr>
        <p:spPr>
          <a:xfrm>
            <a:off x="3860800" y="118533"/>
            <a:ext cx="7992533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Адаптационный компас для семиклассников НИШ: диагностика, помощник, маршрут, менторы и план первой недели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87867" y="1439333"/>
            <a:ext cx="7840133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267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Компас</a:t>
            </a:r>
            <a:pPr algn="l" indent="0" marL="0">
              <a:lnSpc>
                <a:spcPct val="90000"/>
              </a:lnSpc>
              <a:buNone/>
            </a:pPr>
            <a:r>
              <a:rPr lang="en-US" sz="1267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</a:t>
            </a:r>
            <a:endParaRPr lang="en-US" sz="12670" dirty="0"/>
          </a:p>
        </p:txBody>
      </p:sp>
      <p:sp>
        <p:nvSpPr>
          <p:cNvPr id="5" name="Text 3"/>
          <p:cNvSpPr txBox="1"/>
          <p:nvPr/>
        </p:nvSpPr>
        <p:spPr>
          <a:xfrm>
            <a:off x="541867" y="3234267"/>
            <a:ext cx="7586133" cy="389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Сәлем, НИШ! Первая неделя без паники.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1867" y="3674533"/>
            <a:ext cx="5384800" cy="270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7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compass7-nis.vercel.app</a:t>
            </a:r>
            <a:endParaRPr lang="en-US" sz="1470" dirty="0"/>
          </a:p>
        </p:txBody>
      </p:sp>
      <p:sp>
        <p:nvSpPr>
          <p:cNvPr id="7" name="Text 5"/>
          <p:cNvSpPr txBox="1"/>
          <p:nvPr/>
        </p:nvSpPr>
        <p:spPr>
          <a:xfrm>
            <a:off x="338667" y="4258733"/>
            <a:ext cx="2455333" cy="31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3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пилота</a:t>
            </a:r>
            <a:endParaRPr lang="en-US" sz="2130" dirty="0"/>
          </a:p>
        </p:txBody>
      </p:sp>
      <p:sp>
        <p:nvSpPr>
          <p:cNvPr id="8" name="Text 6"/>
          <p:cNvSpPr txBox="1"/>
          <p:nvPr/>
        </p:nvSpPr>
        <p:spPr>
          <a:xfrm>
            <a:off x="3064933" y="4258733"/>
            <a:ext cx="2692400" cy="31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3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Стратегия роста</a:t>
            </a:r>
            <a:endParaRPr lang="en-US" sz="2130" dirty="0"/>
          </a:p>
        </p:txBody>
      </p:sp>
      <p:sp>
        <p:nvSpPr>
          <p:cNvPr id="9" name="Text 7"/>
          <p:cNvSpPr txBox="1"/>
          <p:nvPr/>
        </p:nvSpPr>
        <p:spPr>
          <a:xfrm>
            <a:off x="5918200" y="4258733"/>
            <a:ext cx="2336800" cy="31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3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пилота</a:t>
            </a:r>
            <a:endParaRPr lang="en-US" sz="2130" dirty="0"/>
          </a:p>
        </p:txBody>
      </p:sp>
      <p:sp>
        <p:nvSpPr>
          <p:cNvPr id="10" name="Text 8"/>
          <p:cNvSpPr txBox="1"/>
          <p:nvPr/>
        </p:nvSpPr>
        <p:spPr>
          <a:xfrm>
            <a:off x="381000" y="4707467"/>
            <a:ext cx="1989667" cy="1210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7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100%</a:t>
            </a:r>
            <a:endParaRPr lang="en-US" sz="13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классов школы</a:t>
            </a:r>
            <a:endParaRPr lang="en-US" sz="1330" dirty="0"/>
          </a:p>
        </p:txBody>
      </p:sp>
      <p:sp>
        <p:nvSpPr>
          <p:cNvPr id="11" name="Text 9"/>
          <p:cNvSpPr txBox="1"/>
          <p:nvPr/>
        </p:nvSpPr>
        <p:spPr>
          <a:xfrm>
            <a:off x="3208867" y="4707467"/>
            <a:ext cx="1998133" cy="1210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Кураторы</a:t>
            </a:r>
            <a:endParaRPr lang="en-US" sz="13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 менторы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6036733" y="4707467"/>
            <a:ext cx="1998133" cy="1210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3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100K ₸</a:t>
            </a:r>
            <a:endParaRPr lang="en-US" sz="13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 четверть</a:t>
            </a:r>
            <a:endParaRPr lang="en-US" sz="13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8600" y="423333"/>
            <a:ext cx="8873067" cy="1227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47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Вчера отличник, сегодня «3»:</a:t>
            </a:r>
            <a:endParaRPr lang="en-US" sz="347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47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новичок теряется в системе НИШ</a:t>
            </a:r>
            <a:endParaRPr lang="en-US" sz="3470" dirty="0"/>
          </a:p>
        </p:txBody>
      </p:sp>
      <p:sp>
        <p:nvSpPr>
          <p:cNvPr id="3" name="Text 1"/>
          <p:cNvSpPr txBox="1"/>
          <p:nvPr/>
        </p:nvSpPr>
        <p:spPr>
          <a:xfrm>
            <a:off x="9237133" y="321733"/>
            <a:ext cx="27686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«[ВСТАВИТЬ: цитата из интервью]»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2A9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Айдана Тулегеновна, 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заместитель директора по учебной работе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2400" y="1845733"/>
            <a:ext cx="11785600" cy="880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7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год в 7 классы НИШ приходит около </a:t>
            </a:r>
            <a:pPr algn="l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2 800 новичков</a:t>
            </a:r>
            <a:pPr algn="l" indent="0" marL="0">
              <a:lnSpc>
                <a:spcPct val="115000"/>
              </a:lnSpc>
              <a:buNone/>
            </a:pPr>
            <a:r>
              <a:rPr lang="en-US" sz="147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лучших по итогам отбора. Но в первые недели на них одновременно обрушиваются </a:t>
            </a:r>
            <a:pPr algn="l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новая система оценивания (ФО, СОР, СОЧ, дескрипторы), кабинеты, три языка, клубы и интернат</a:t>
            </a:r>
            <a:pPr algn="l" indent="0" marL="0">
              <a:lnSpc>
                <a:spcPct val="115000"/>
              </a:lnSpc>
              <a:buNone/>
            </a:pPr>
            <a:r>
              <a:rPr lang="en-US" sz="147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Информация есть, но разбросана по сайту, чатам и журналу. </a:t>
            </a:r>
            <a:pPr algn="l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 не в знаниях, а в том, что нет понятного маршрута.</a:t>
            </a:r>
            <a:endParaRPr lang="en-US" sz="1470" dirty="0"/>
          </a:p>
        </p:txBody>
      </p:sp>
      <p:sp>
        <p:nvSpPr>
          <p:cNvPr id="5" name="Text 3"/>
          <p:cNvSpPr txBox="1"/>
          <p:nvPr/>
        </p:nvSpPr>
        <p:spPr>
          <a:xfrm>
            <a:off x="1625600" y="3234267"/>
            <a:ext cx="1507067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28 112</a:t>
            </a:r>
            <a:endParaRPr lang="en-US" sz="2530" dirty="0"/>
          </a:p>
        </p:txBody>
      </p:sp>
      <p:sp>
        <p:nvSpPr>
          <p:cNvPr id="6" name="Text 4"/>
          <p:cNvSpPr txBox="1"/>
          <p:nvPr/>
        </p:nvSpPr>
        <p:spPr>
          <a:xfrm>
            <a:off x="1625600" y="3674533"/>
            <a:ext cx="1507067" cy="389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A3F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претендентов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643467" y="4419600"/>
            <a:ext cx="2269067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боролись за 2 814 грантов «Өркен» в 7 классы НИШ на 2026–2027 учебный год. Каждый поступивший начинает в новой системе с нуля.</a:t>
            </a:r>
            <a:endParaRPr lang="en-US" sz="1070" dirty="0"/>
          </a:p>
        </p:txBody>
      </p:sp>
      <p:sp>
        <p:nvSpPr>
          <p:cNvPr id="8" name="Text 6"/>
          <p:cNvSpPr txBox="1"/>
          <p:nvPr/>
        </p:nvSpPr>
        <p:spPr>
          <a:xfrm>
            <a:off x="643467" y="5926667"/>
            <a:ext cx="233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АОО «НИШ», результаты отбора; pedagog-kz.kz, 06.05.2026</a:t>
            </a:r>
            <a:endParaRPr lang="en-US" sz="870" dirty="0"/>
          </a:p>
        </p:txBody>
      </p:sp>
      <p:sp>
        <p:nvSpPr>
          <p:cNvPr id="9" name="Text 7"/>
          <p:cNvSpPr txBox="1"/>
          <p:nvPr/>
        </p:nvSpPr>
        <p:spPr>
          <a:xfrm>
            <a:off x="4428067" y="3234267"/>
            <a:ext cx="1507067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из 5</a:t>
            </a:r>
            <a:endParaRPr lang="en-US" sz="2530" dirty="0"/>
          </a:p>
        </p:txBody>
      </p:sp>
      <p:sp>
        <p:nvSpPr>
          <p:cNvPr id="10" name="Text 8"/>
          <p:cNvSpPr txBox="1"/>
          <p:nvPr/>
        </p:nvSpPr>
        <p:spPr>
          <a:xfrm>
            <a:off x="4428067" y="3674533"/>
            <a:ext cx="1507067" cy="389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A3F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теряют прогресс после смены школы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3445933" y="4419600"/>
            <a:ext cx="2269067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год после перехода двое из пяти учеников не показывают ожидаемого прогресса. Причина не в способностях, а в адаптации.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3445933" y="5926667"/>
            <a:ext cx="233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Galton, Gray &amp; Ruddock, 1999</a:t>
            </a:r>
            <a:endParaRPr lang="en-US" sz="870" dirty="0"/>
          </a:p>
        </p:txBody>
      </p:sp>
      <p:sp>
        <p:nvSpPr>
          <p:cNvPr id="13" name="Text 11"/>
          <p:cNvSpPr txBox="1"/>
          <p:nvPr/>
        </p:nvSpPr>
        <p:spPr>
          <a:xfrm>
            <a:off x="7230533" y="3234267"/>
            <a:ext cx="1507067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: 1</a:t>
            </a:r>
            <a:endParaRPr lang="en-US" sz="2530" dirty="0"/>
          </a:p>
        </p:txBody>
      </p:sp>
      <p:sp>
        <p:nvSpPr>
          <p:cNvPr id="14" name="Text 12"/>
          <p:cNvSpPr txBox="1"/>
          <p:nvPr/>
        </p:nvSpPr>
        <p:spPr>
          <a:xfrm>
            <a:off x="7230533" y="3674533"/>
            <a:ext cx="1507067" cy="389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3A3F5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конкурс в НИШ Шымкента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6248400" y="4419600"/>
            <a:ext cx="2269067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2 926 претендентов на 288 грантов. Приходят сильнейшие, и тем обиднее, когда отличник теряется из-за системы, а не из-за знаний.</a:t>
            </a:r>
            <a:endParaRPr lang="en-US" sz="1070" dirty="0"/>
          </a:p>
        </p:txBody>
      </p:sp>
      <p:sp>
        <p:nvSpPr>
          <p:cNvPr id="16" name="Text 14"/>
          <p:cNvSpPr txBox="1"/>
          <p:nvPr/>
        </p:nvSpPr>
        <p:spPr>
          <a:xfrm>
            <a:off x="6248400" y="5926667"/>
            <a:ext cx="2336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pedagog-kz.kz, 06.05.2026</a:t>
            </a:r>
            <a:endParaRPr lang="en-US" sz="870" dirty="0"/>
          </a:p>
        </p:txBody>
      </p:sp>
      <p:sp>
        <p:nvSpPr>
          <p:cNvPr id="17" name="Text 15"/>
          <p:cNvSpPr txBox="1"/>
          <p:nvPr/>
        </p:nvSpPr>
        <p:spPr>
          <a:xfrm>
            <a:off x="8974667" y="2760133"/>
            <a:ext cx="3048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КОНКУРС В НИШ,</a:t>
            </a:r>
            <a:endParaRPr lang="en-US" sz="173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7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ЧЕЛОВЕК НА МЕСТО</a:t>
            </a:r>
            <a:endParaRPr lang="en-US" sz="173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8890000" y="3386667"/>
          <a:ext cx="3217333" cy="254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8974667" y="5969000"/>
            <a:ext cx="3132667" cy="211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4A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Источник: pedagog-kz.kz, 06.05.2026 (отбор на 2026–2027)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75733" y="592667"/>
            <a:ext cx="10430933" cy="84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РЫНОК И АУДИТОРИЯ</a:t>
            </a:r>
            <a:endParaRPr lang="en-US" sz="5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566333"/>
            <a:ext cx="2912533" cy="84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 ЕСТЬ.</a:t>
            </a:r>
            <a:endParaRPr lang="en-US" sz="173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7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АДАПТАЦИИ ПОСЛЕ</a:t>
            </a:r>
            <a:endParaRPr lang="en-US" sz="173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7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ОТБОРА НЕТ.</a:t>
            </a:r>
            <a:endParaRPr lang="en-US" sz="1730" dirty="0"/>
          </a:p>
        </p:txBody>
      </p:sp>
      <p:sp>
        <p:nvSpPr>
          <p:cNvPr id="4" name="Text 2"/>
          <p:cNvSpPr txBox="1"/>
          <p:nvPr/>
        </p:nvSpPr>
        <p:spPr>
          <a:xfrm>
            <a:off x="3666067" y="1422400"/>
            <a:ext cx="75946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сети НИШ учится почти 18 тысяч школьников, и каждый год приходит новый 7 класс. Школы вкладывают много сил в отбор, а адаптация после поступления держится на кураторе и на том, повезёт ли новичку со старшими друзьями.</a:t>
            </a:r>
            <a:endParaRPr lang="en-US" sz="1470" dirty="0"/>
          </a:p>
        </p:txBody>
      </p:sp>
      <p:sp>
        <p:nvSpPr>
          <p:cNvPr id="5" name="Text 3"/>
          <p:cNvSpPr txBox="1"/>
          <p:nvPr/>
        </p:nvSpPr>
        <p:spPr>
          <a:xfrm>
            <a:off x="1422400" y="3429000"/>
            <a:ext cx="24722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D0D7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РАЗМЕР РЫНКА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113867" y="3429000"/>
            <a:ext cx="25061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D0D7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ПОЛЬЗОВАТЕЛИ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805333" y="3429000"/>
            <a:ext cx="22013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D0D7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НИША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74800" y="3979333"/>
            <a:ext cx="2489200" cy="592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2 814 новичков в год</a:t>
            </a:r>
            <a:endParaRPr lang="en-US" sz="133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грантов «Өркен» в 7 классы НИШ на 2026–2027 учебный год.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1574800" y="4682067"/>
            <a:ext cx="2489200" cy="592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17 884 ученика НИШ</a:t>
            </a:r>
            <a:endParaRPr lang="en-US" sz="133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сети из 21 школы в 18 городах (на 02.09.2024).</a:t>
            </a:r>
            <a:endParaRPr lang="en-US" sz="1330" dirty="0"/>
          </a:p>
        </p:txBody>
      </p:sp>
      <p:sp>
        <p:nvSpPr>
          <p:cNvPr id="10" name="Text 8"/>
          <p:cNvSpPr txBox="1"/>
          <p:nvPr/>
        </p:nvSpPr>
        <p:spPr>
          <a:xfrm>
            <a:off x="1574800" y="5384800"/>
            <a:ext cx="2489200" cy="592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28 112 претендентов</a:t>
            </a:r>
            <a:endParaRPr lang="en-US" sz="133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год: будущие ученики и родители тоже ищут, как устроена НИШ.</a:t>
            </a:r>
            <a:endParaRPr lang="en-US" sz="1330" dirty="0"/>
          </a:p>
        </p:txBody>
      </p:sp>
      <p:sp>
        <p:nvSpPr>
          <p:cNvPr id="11" name="Text 9"/>
          <p:cNvSpPr txBox="1"/>
          <p:nvPr/>
        </p:nvSpPr>
        <p:spPr>
          <a:xfrm>
            <a:off x="4478867" y="3937000"/>
            <a:ext cx="339513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Основные: </a:t>
            </a:r>
            <a:endParaRPr lang="en-US" sz="127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семиклассники-новички, 12–13 лет</a:t>
            </a:r>
            <a:endParaRPr lang="en-US" sz="127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27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Вторые: </a:t>
            </a:r>
            <a:endParaRPr lang="en-US" sz="127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кураторы и завучи: видят, что непонятно новичкам</a:t>
            </a:r>
            <a:endParaRPr lang="en-US" sz="127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27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Партнёры: </a:t>
            </a:r>
            <a:endParaRPr lang="en-US" sz="127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школы с отбором, менторы-старшеклассники, родители</a:t>
            </a:r>
            <a:endParaRPr lang="en-US" sz="1270" dirty="0"/>
          </a:p>
        </p:txBody>
      </p:sp>
      <p:sp>
        <p:nvSpPr>
          <p:cNvPr id="12" name="Text 10"/>
          <p:cNvSpPr txBox="1"/>
          <p:nvPr/>
        </p:nvSpPr>
        <p:spPr>
          <a:xfrm>
            <a:off x="8288867" y="3894667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Сайт школы, чаты и электронный журнал </a:t>
            </a:r>
            <a:pPr algn="l" indent="0" marL="0">
              <a:lnSpc>
                <a:spcPct val="120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хранят</a:t>
            </a:r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информацию, но не </a:t>
            </a:r>
            <a:pPr algn="l" indent="0" marL="0">
              <a:lnSpc>
                <a:spcPct val="120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объясняют</a:t>
            </a:r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её новичку и не превращают в план. Компас собирает всё в один маршрут: проверить знания, задать вопрос, получить план недели.</a:t>
            </a:r>
            <a:endParaRPr lang="en-US" sz="1270" dirty="0"/>
          </a:p>
        </p:txBody>
      </p:sp>
      <p:sp>
        <p:nvSpPr>
          <p:cNvPr id="13" name="Text 11"/>
          <p:cNvSpPr txBox="1"/>
          <p:nvPr/>
        </p:nvSpPr>
        <p:spPr>
          <a:xfrm>
            <a:off x="592667" y="6646333"/>
            <a:ext cx="10414000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Источники: nis.edu.kz; ru.wikipedia.org (Назарбаев Интеллектуальные школы); pedagog-kz.kz, 06.05.2026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2467" y="812800"/>
            <a:ext cx="3716867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33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работает</a:t>
            </a:r>
            <a:endParaRPr lang="en-US" sz="333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33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Компас?</a:t>
            </a:r>
            <a:endParaRPr lang="en-US" sz="3330" dirty="0"/>
          </a:p>
        </p:txBody>
      </p:sp>
      <p:sp>
        <p:nvSpPr>
          <p:cNvPr id="3" name="Text 1"/>
          <p:cNvSpPr txBox="1"/>
          <p:nvPr/>
        </p:nvSpPr>
        <p:spPr>
          <a:xfrm>
            <a:off x="245533" y="1964267"/>
            <a:ext cx="3352800" cy="345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Компас превращает первую неделю в НИШ в </a:t>
            </a:r>
            <a:pPr algn="l" indent="0" marL="0">
              <a:lnSpc>
                <a:spcPct val="120000"/>
              </a:lnSpc>
              <a:buNone/>
            </a:pPr>
            <a:r>
              <a:rPr lang="en-US" sz="12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понятный маршрут</a:t>
            </a:r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Ученик вводит имя и класс, и сайт </a:t>
            </a:r>
            <a:pPr algn="l" indent="0" marL="0">
              <a:lnSpc>
                <a:spcPct val="120000"/>
              </a:lnSpc>
              <a:buNone/>
            </a:pPr>
            <a:r>
              <a:rPr lang="en-US" sz="12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 показывает его день</a:t>
            </a:r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 уроки, кабинеты, этажи, учителей и куратора.
</a:t>
            </a:r>
            <a:pPr algn="l" indent="0" marL="0">
              <a:lnSpc>
                <a:spcPct val="120000"/>
              </a:lnSpc>
              <a:buNone/>
            </a:pPr>
            <a:r>
              <a:rPr lang="en-US" sz="12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Диагностика</a:t>
            </a:r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находит слабые подтемы, </a:t>
            </a:r>
            <a:pPr algn="l" indent="0" marL="0">
              <a:lnSpc>
                <a:spcPct val="120000"/>
              </a:lnSpc>
              <a:buNone/>
            </a:pPr>
            <a:r>
              <a:rPr lang="en-US" sz="12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помощник</a:t>
            </a:r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отвечает на вопросы о школе и запоминает, что непонятно, а </a:t>
            </a:r>
            <a:pPr algn="l" indent="0" marL="0">
              <a:lnSpc>
                <a:spcPct val="120000"/>
              </a:lnSpc>
              <a:buNone/>
            </a:pPr>
            <a:r>
              <a:rPr lang="en-US" sz="12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планер</a:t>
            </a:r>
            <a:pPr algn="l" indent="0" marL="0">
              <a:lnSpc>
                <a:spcPct val="120000"/>
              </a:lnSpc>
              <a:buNone/>
            </a:pPr>
            <a:r>
              <a:rPr lang="en-US" sz="12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собирает всё в неделю: занятия до СОР, запись в кружки, встречу с ментором. С учётом отдыха и сна.</a:t>
            </a:r>
            <a:endParaRPr lang="en-US" sz="1270" dirty="0"/>
          </a:p>
        </p:txBody>
      </p:sp>
      <p:sp>
        <p:nvSpPr>
          <p:cNvPr id="4" name="Text 2"/>
          <p:cNvSpPr txBox="1"/>
          <p:nvPr/>
        </p:nvSpPr>
        <p:spPr>
          <a:xfrm>
            <a:off x="3725333" y="491067"/>
            <a:ext cx="3048000" cy="567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Диагностика</a:t>
            </a:r>
            <a:endParaRPr lang="en-US" sz="11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«Находит слабые подтемы, а не только процент»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307667" y="4995333"/>
            <a:ext cx="3005667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Помощник</a:t>
            </a:r>
            <a:endParaRPr lang="en-US" sz="10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«Отвечает на вопрос своими словами, RU и KZ»</a:t>
            </a:r>
            <a:endParaRPr lang="en-US" sz="1070" dirty="0"/>
          </a:p>
        </p:txBody>
      </p:sp>
      <p:sp>
        <p:nvSpPr>
          <p:cNvPr id="6" name="Text 4"/>
          <p:cNvSpPr txBox="1"/>
          <p:nvPr/>
        </p:nvSpPr>
        <p:spPr>
          <a:xfrm>
            <a:off x="9059333" y="338667"/>
            <a:ext cx="2963333" cy="694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на 7 дней</a:t>
            </a:r>
            <a:endParaRPr lang="en-US" sz="113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«Ставит задачи до дедлайна и не трогает сон»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8733" y="6062133"/>
            <a:ext cx="1803400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Сәлем!</a:t>
            </a:r>
            <a:endParaRPr lang="en-US" sz="1270" dirty="0"/>
          </a:p>
        </p:txBody>
      </p:sp>
      <p:sp>
        <p:nvSpPr>
          <p:cNvPr id="8" name="Text 6"/>
          <p:cNvSpPr txBox="1"/>
          <p:nvPr/>
        </p:nvSpPr>
        <p:spPr>
          <a:xfrm>
            <a:off x="448733" y="6316133"/>
            <a:ext cx="1803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B8BC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имя и класс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2641600" y="6062133"/>
            <a:ext cx="1964267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Твой день</a:t>
            </a:r>
            <a:endParaRPr lang="en-US" sz="1270" dirty="0"/>
          </a:p>
        </p:txBody>
      </p:sp>
      <p:sp>
        <p:nvSpPr>
          <p:cNvPr id="10" name="Text 8"/>
          <p:cNvSpPr txBox="1"/>
          <p:nvPr/>
        </p:nvSpPr>
        <p:spPr>
          <a:xfrm>
            <a:off x="2641600" y="6316133"/>
            <a:ext cx="19642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B8BC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уроки, кабинеты, учителя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5003800" y="6062133"/>
            <a:ext cx="2159000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Диагностика</a:t>
            </a:r>
            <a:endParaRPr lang="en-US" sz="1270" dirty="0"/>
          </a:p>
        </p:txBody>
      </p:sp>
      <p:sp>
        <p:nvSpPr>
          <p:cNvPr id="12" name="Text 10"/>
          <p:cNvSpPr txBox="1"/>
          <p:nvPr/>
        </p:nvSpPr>
        <p:spPr>
          <a:xfrm>
            <a:off x="5003800" y="6316133"/>
            <a:ext cx="215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B8BC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слабые подтемы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7552267" y="6062133"/>
            <a:ext cx="1930400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Помощник</a:t>
            </a:r>
            <a:endParaRPr lang="en-US" sz="1270" dirty="0"/>
          </a:p>
        </p:txBody>
      </p:sp>
      <p:sp>
        <p:nvSpPr>
          <p:cNvPr id="14" name="Text 12"/>
          <p:cNvSpPr txBox="1"/>
          <p:nvPr/>
        </p:nvSpPr>
        <p:spPr>
          <a:xfrm>
            <a:off x="7552267" y="6316133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B8BC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вопросы своими словами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9880600" y="6062133"/>
            <a:ext cx="1938867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недели</a:t>
            </a:r>
            <a:endParaRPr lang="en-US" sz="1270" dirty="0"/>
          </a:p>
        </p:txBody>
      </p:sp>
      <p:sp>
        <p:nvSpPr>
          <p:cNvPr id="16" name="Text 14"/>
          <p:cNvSpPr txBox="1"/>
          <p:nvPr/>
        </p:nvSpPr>
        <p:spPr>
          <a:xfrm>
            <a:off x="9880600" y="6316133"/>
            <a:ext cx="1938867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0" dirty="0">
                <a:solidFill>
                  <a:srgbClr val="B8BC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клубы, ментор, сон</a:t>
            </a:r>
            <a:endParaRPr lang="en-US" sz="9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2400" y="0"/>
            <a:ext cx="10854267" cy="98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Услуги и модель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186267" y="1083733"/>
            <a:ext cx="11836400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ученика Компас бесплатный. Платит школа: она получает то, чего у неё сейчас нет, данные о том, где новичкам трудно.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23333" y="1574800"/>
            <a:ext cx="3386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29733" y="1540933"/>
            <a:ext cx="1981200" cy="237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Ученик: 0 ₸</a:t>
            </a:r>
            <a:endParaRPr lang="en-US" sz="1070" dirty="0"/>
          </a:p>
        </p:txBody>
      </p:sp>
      <p:sp>
        <p:nvSpPr>
          <p:cNvPr id="6" name="Text 4"/>
          <p:cNvSpPr txBox="1"/>
          <p:nvPr/>
        </p:nvSpPr>
        <p:spPr>
          <a:xfrm>
            <a:off x="491067" y="1794933"/>
            <a:ext cx="226906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Диагностика, помощник, маршрут, клубы, ментор и план недели.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3217333" y="1778000"/>
            <a:ext cx="372533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44133"/>
            <a:ext cx="1676400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Лицензия школы</a:t>
            </a:r>
            <a:endParaRPr lang="en-US" sz="1070" dirty="0"/>
          </a:p>
        </p:txBody>
      </p:sp>
      <p:sp>
        <p:nvSpPr>
          <p:cNvPr id="9" name="Text 7"/>
          <p:cNvSpPr txBox="1"/>
          <p:nvPr/>
        </p:nvSpPr>
        <p:spPr>
          <a:xfrm>
            <a:off x="3369733" y="2048933"/>
            <a:ext cx="19134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Реальное расписание, своя база ответов, анонимная статистика трудностей.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762000" y="2760133"/>
            <a:ext cx="35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185333" y="2726267"/>
            <a:ext cx="1642533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Программа менторов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626533" y="3031067"/>
            <a:ext cx="2150533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Старшеклассники получают сертификат и часы волонтёрства.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861733"/>
            <a:ext cx="355600" cy="186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623733" y="2827867"/>
            <a:ext cx="1710267" cy="27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Сеть школ</a:t>
            </a:r>
            <a:endParaRPr lang="en-US" sz="1070" dirty="0"/>
          </a:p>
        </p:txBody>
      </p:sp>
      <p:sp>
        <p:nvSpPr>
          <p:cNvPr id="15" name="Text 13"/>
          <p:cNvSpPr txBox="1"/>
          <p:nvPr/>
        </p:nvSpPr>
        <p:spPr>
          <a:xfrm>
            <a:off x="3268133" y="3115733"/>
            <a:ext cx="2015067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3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Общая база ответов для НИШ и школ с отбором.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508000" y="3962400"/>
            <a:ext cx="2878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Ученики пользуются бесплатно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8000" y="4538133"/>
            <a:ext cx="2878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Вопросы и результаты (анонимно)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8000" y="5096933"/>
            <a:ext cx="2878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Школа видит, где трудно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8000" y="5655733"/>
            <a:ext cx="2878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Лицензия школы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8000" y="6214533"/>
            <a:ext cx="2878667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Новые функции для новичков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852333" y="3852333"/>
            <a:ext cx="423333" cy="29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</a:t>
            </a:r>
            <a:endParaRPr lang="en-US" sz="2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</a:t>
            </a:r>
            <a:endParaRPr lang="en-US" sz="2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</a:t>
            </a:r>
            <a:endParaRPr lang="en-US" sz="2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</a:t>
            </a:r>
            <a:endParaRPr lang="en-US" sz="2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</a:t>
            </a:r>
            <a:endParaRPr lang="en-US" sz="2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419600" y="3911600"/>
            <a:ext cx="321733" cy="2861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</a:t>
            </a:r>
            <a:endParaRPr lang="en-US" sz="133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13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</a:t>
            </a:r>
            <a:endParaRPr lang="en-US" sz="1330" dirty="0"/>
          </a:p>
        </p:txBody>
      </p:sp>
      <p:sp>
        <p:nvSpPr>
          <p:cNvPr id="23" name="Text 21"/>
          <p:cNvSpPr txBox="1"/>
          <p:nvPr/>
        </p:nvSpPr>
        <p:spPr>
          <a:xfrm>
            <a:off x="5588000" y="1659467"/>
            <a:ext cx="2751667" cy="643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Возможность</a:t>
            </a:r>
            <a:endParaRPr lang="en-US" sz="1470" dirty="0"/>
          </a:p>
        </p:txBody>
      </p:sp>
      <p:sp>
        <p:nvSpPr>
          <p:cNvPr id="24" name="Text 22"/>
          <p:cNvSpPr txBox="1"/>
          <p:nvPr/>
        </p:nvSpPr>
        <p:spPr>
          <a:xfrm>
            <a:off x="8424333" y="1659467"/>
            <a:ext cx="1778000" cy="643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Ученик (0 ₸)</a:t>
            </a:r>
            <a:endParaRPr lang="en-US" sz="1330" dirty="0"/>
          </a:p>
        </p:txBody>
      </p:sp>
      <p:sp>
        <p:nvSpPr>
          <p:cNvPr id="25" name="Text 23"/>
          <p:cNvSpPr txBox="1"/>
          <p:nvPr/>
        </p:nvSpPr>
        <p:spPr>
          <a:xfrm>
            <a:off x="10287000" y="1659467"/>
            <a:ext cx="1752600" cy="643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Школа (лицензия)</a:t>
            </a:r>
            <a:endParaRPr lang="en-US" sz="1270" dirty="0"/>
          </a:p>
        </p:txBody>
      </p:sp>
      <p:sp>
        <p:nvSpPr>
          <p:cNvPr id="26" name="Text 24"/>
          <p:cNvSpPr txBox="1"/>
          <p:nvPr/>
        </p:nvSpPr>
        <p:spPr>
          <a:xfrm>
            <a:off x="5621867" y="2506133"/>
            <a:ext cx="2692400" cy="677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Диагностика, помощник, план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432800" y="2506133"/>
            <a:ext cx="1761067" cy="677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1770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Есть</a:t>
            </a:r>
            <a:endParaRPr lang="en-US" sz="1130" dirty="0"/>
          </a:p>
        </p:txBody>
      </p:sp>
      <p:sp>
        <p:nvSpPr>
          <p:cNvPr id="28" name="Text 26"/>
          <p:cNvSpPr txBox="1"/>
          <p:nvPr/>
        </p:nvSpPr>
        <p:spPr>
          <a:xfrm>
            <a:off x="10295467" y="2506133"/>
            <a:ext cx="1727200" cy="677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1770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Есть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621867" y="3183467"/>
            <a:ext cx="2692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Расписание и маршрут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32800" y="3183467"/>
            <a:ext cx="176106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Пример по классу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10295467" y="3183467"/>
            <a:ext cx="1727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Реальное расписание школы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5621867" y="3843867"/>
            <a:ext cx="2692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 ответов помощника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2800" y="3843867"/>
            <a:ext cx="176106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Общая</a:t>
            </a:r>
            <a:endParaRPr lang="en-US" sz="1130" dirty="0"/>
          </a:p>
        </p:txBody>
      </p:sp>
      <p:sp>
        <p:nvSpPr>
          <p:cNvPr id="34" name="Text 32"/>
          <p:cNvSpPr txBox="1"/>
          <p:nvPr/>
        </p:nvSpPr>
        <p:spPr>
          <a:xfrm>
            <a:off x="10295467" y="3843867"/>
            <a:ext cx="17272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 своей школы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5621867" y="4504267"/>
            <a:ext cx="2692400" cy="999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Статистика «что непонятно новичкам»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32800" y="4504267"/>
            <a:ext cx="1761067" cy="999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C026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10295467" y="4504267"/>
            <a:ext cx="1727200" cy="999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Анонимно, по классам</a:t>
            </a:r>
            <a:endParaRPr lang="en-US" sz="1130" dirty="0"/>
          </a:p>
        </p:txBody>
      </p:sp>
      <p:sp>
        <p:nvSpPr>
          <p:cNvPr id="38" name="Text 36"/>
          <p:cNvSpPr txBox="1"/>
          <p:nvPr/>
        </p:nvSpPr>
        <p:spPr>
          <a:xfrm>
            <a:off x="5621867" y="5503333"/>
            <a:ext cx="2692400" cy="110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Управление программой менторов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432800" y="5503333"/>
            <a:ext cx="1761067" cy="110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C026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</a:t>
            </a:r>
            <a:endParaRPr lang="en-US" sz="1130" dirty="0"/>
          </a:p>
        </p:txBody>
      </p:sp>
      <p:sp>
        <p:nvSpPr>
          <p:cNvPr id="40" name="Text 38"/>
          <p:cNvSpPr txBox="1"/>
          <p:nvPr/>
        </p:nvSpPr>
        <p:spPr>
          <a:xfrm>
            <a:off x="10295467" y="5503333"/>
            <a:ext cx="1727200" cy="110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17704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Есть</a:t>
            </a:r>
            <a:endParaRPr lang="en-US" sz="11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20133" y="50800"/>
            <a:ext cx="11633200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9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Компас дойдёт</a:t>
            </a:r>
            <a:endParaRPr lang="en-US" sz="693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693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100%?</a:t>
            </a:r>
            <a:endParaRPr lang="en-US" sz="6930" dirty="0"/>
          </a:p>
        </p:txBody>
      </p:sp>
      <p:sp>
        <p:nvSpPr>
          <p:cNvPr id="3" name="Text 1"/>
          <p:cNvSpPr txBox="1"/>
          <p:nvPr/>
        </p:nvSpPr>
        <p:spPr>
          <a:xfrm>
            <a:off x="5588000" y="1151467"/>
            <a:ext cx="6265333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100% семиклассников школы. Мы не рекламируем Компас: куратор выдаёт его в первый день вместе с расписанием.</a:t>
            </a:r>
            <a:endParaRPr lang="en-US" sz="1670" dirty="0"/>
          </a:p>
        </p:txBody>
      </p:sp>
      <p:sp>
        <p:nvSpPr>
          <p:cNvPr id="4" name="Text 2"/>
          <p:cNvSpPr txBox="1"/>
          <p:nvPr/>
        </p:nvSpPr>
        <p:spPr>
          <a:xfrm>
            <a:off x="169333" y="2455333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Кураторский час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533" y="2921000"/>
            <a:ext cx="2472267" cy="567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первый день куратор показывает QR-код на классном часе. Новичок заполняет профиль за 2 минуты и сразу видит свой день.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414867" y="3826933"/>
            <a:ext cx="1981200" cy="27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новичков</a:t>
            </a:r>
            <a:endParaRPr lang="en-US" sz="147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4199467"/>
            <a:ext cx="1778000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*4 класса × 25 учеников</a:t>
            </a:r>
            <a:endParaRPr lang="en-US" sz="870" dirty="0"/>
          </a:p>
        </p:txBody>
      </p:sp>
      <p:sp>
        <p:nvSpPr>
          <p:cNvPr id="8" name="Text 6"/>
          <p:cNvSpPr txBox="1"/>
          <p:nvPr/>
        </p:nvSpPr>
        <p:spPr>
          <a:xfrm>
            <a:off x="338667" y="4538133"/>
            <a:ext cx="2116667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 профилей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08000" y="4893733"/>
            <a:ext cx="2032000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*90% регистрируются на уроке</a:t>
            </a:r>
            <a:endParaRPr lang="en-US" sz="870" dirty="0"/>
          </a:p>
        </p:txBody>
      </p:sp>
      <p:sp>
        <p:nvSpPr>
          <p:cNvPr id="10" name="Text 8"/>
          <p:cNvSpPr txBox="1"/>
          <p:nvPr/>
        </p:nvSpPr>
        <p:spPr>
          <a:xfrm>
            <a:off x="338667" y="5181600"/>
            <a:ext cx="2116667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90 активных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667" y="5588000"/>
            <a:ext cx="22013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Допущение: 4 класса по 25 учеников, уточнить в школе</a:t>
            </a:r>
            <a:endParaRPr lang="en-US" sz="730" dirty="0"/>
          </a:p>
        </p:txBody>
      </p:sp>
      <p:sp>
        <p:nvSpPr>
          <p:cNvPr id="12" name="Text 10"/>
          <p:cNvSpPr txBox="1"/>
          <p:nvPr/>
        </p:nvSpPr>
        <p:spPr>
          <a:xfrm>
            <a:off x="3725333" y="2243667"/>
            <a:ext cx="4148667" cy="31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Менторы-старшеклассники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208867" y="2667000"/>
            <a:ext cx="5461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1–2 ментора на класс (10–11 класс, лидеры клубов, олимпиадники) помогают пройти диагностику и задать первые вопросы помощнику.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3556000" y="3352800"/>
            <a:ext cx="21674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 активных</a:t>
            </a:r>
            <a:endParaRPr lang="en-US" sz="1470" dirty="0"/>
          </a:p>
        </p:txBody>
      </p:sp>
      <p:sp>
        <p:nvSpPr>
          <p:cNvPr id="15" name="Text 13"/>
          <p:cNvSpPr txBox="1"/>
          <p:nvPr/>
        </p:nvSpPr>
        <p:spPr>
          <a:xfrm>
            <a:off x="3725333" y="3725333"/>
            <a:ext cx="1998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*80% проходят диагностику за 48 ч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842000" y="3335867"/>
            <a:ext cx="2201333" cy="27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 диагностики</a:t>
            </a:r>
            <a:endParaRPr lang="en-US" sz="1470" dirty="0"/>
          </a:p>
        </p:txBody>
      </p:sp>
      <p:sp>
        <p:nvSpPr>
          <p:cNvPr id="17" name="Text 15"/>
          <p:cNvSpPr txBox="1"/>
          <p:nvPr/>
        </p:nvSpPr>
        <p:spPr>
          <a:xfrm>
            <a:off x="4783667" y="4080933"/>
            <a:ext cx="2243667" cy="27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72 плана недели</a:t>
            </a:r>
            <a:endParaRPr lang="en-US" sz="1470" dirty="0"/>
          </a:p>
        </p:txBody>
      </p:sp>
      <p:sp>
        <p:nvSpPr>
          <p:cNvPr id="18" name="Text 16"/>
          <p:cNvSpPr txBox="1"/>
          <p:nvPr/>
        </p:nvSpPr>
        <p:spPr>
          <a:xfrm>
            <a:off x="8890000" y="2353733"/>
            <a:ext cx="2836333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Родители и чат класса</a:t>
            </a:r>
            <a:endParaRPr lang="en-US" sz="1470" dirty="0"/>
          </a:p>
        </p:txBody>
      </p:sp>
      <p:sp>
        <p:nvSpPr>
          <p:cNvPr id="19" name="Text 17"/>
          <p:cNvSpPr txBox="1"/>
          <p:nvPr/>
        </p:nvSpPr>
        <p:spPr>
          <a:xfrm>
            <a:off x="9101667" y="2726267"/>
            <a:ext cx="2540000" cy="702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C4B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скачивается одним нажатием. Ученик отправляет его родителям, и семья понимает систему НИШ с первой недели.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9313333" y="3742267"/>
            <a:ext cx="2201333" cy="237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 плана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736667" y="4131733"/>
            <a:ext cx="1778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*50% отправляют родителям</a:t>
            </a:r>
            <a:endParaRPr lang="en-US" sz="870" dirty="0"/>
          </a:p>
        </p:txBody>
      </p:sp>
      <p:sp>
        <p:nvSpPr>
          <p:cNvPr id="22" name="Text 20"/>
          <p:cNvSpPr txBox="1"/>
          <p:nvPr/>
        </p:nvSpPr>
        <p:spPr>
          <a:xfrm>
            <a:off x="9313333" y="4402667"/>
            <a:ext cx="2218267" cy="270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семей в курсе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974667" y="4792133"/>
            <a:ext cx="2556933" cy="1693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*база ответов растёт с каждым годом</a:t>
            </a:r>
            <a:endParaRPr lang="en-US" sz="870" dirty="0"/>
          </a:p>
        </p:txBody>
      </p:sp>
      <p:sp>
        <p:nvSpPr>
          <p:cNvPr id="24" name="Text 22"/>
          <p:cNvSpPr txBox="1"/>
          <p:nvPr/>
        </p:nvSpPr>
        <p:spPr>
          <a:xfrm>
            <a:off x="9313333" y="5096933"/>
            <a:ext cx="22521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новый набор</a:t>
            </a:r>
            <a:endParaRPr lang="en-US" sz="1470" dirty="0"/>
          </a:p>
        </p:txBody>
      </p:sp>
      <p:sp>
        <p:nvSpPr>
          <p:cNvPr id="25" name="Text 23"/>
          <p:cNvSpPr txBox="1"/>
          <p:nvPr/>
        </p:nvSpPr>
        <p:spPr>
          <a:xfrm>
            <a:off x="3132667" y="4614333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54545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Новички с планом недели, % (цель пилота)</a:t>
            </a:r>
            <a:endParaRPr lang="en-US" sz="133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217333" y="4868333"/>
          <a:ext cx="5842000" cy="186266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70000" y="152400"/>
            <a:ext cx="9652000" cy="541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7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Финансовый план и реалистичность</a:t>
            </a:r>
            <a:endParaRPr lang="en-US" sz="3470" dirty="0"/>
          </a:p>
        </p:txBody>
      </p:sp>
      <p:sp>
        <p:nvSpPr>
          <p:cNvPr id="3" name="Text 1"/>
          <p:cNvSpPr txBox="1"/>
          <p:nvPr/>
        </p:nvSpPr>
        <p:spPr>
          <a:xfrm>
            <a:off x="9144000" y="5875867"/>
            <a:ext cx="2980267" cy="237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73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суммы в ₸; лицензии и цены: допущения команды, курс ≈ 500 ₸/$</a:t>
            </a:r>
            <a:endParaRPr lang="en-US" sz="730" dirty="0"/>
          </a:p>
        </p:txBody>
      </p:sp>
      <p:sp>
        <p:nvSpPr>
          <p:cNvPr id="4" name="Text 2"/>
          <p:cNvSpPr txBox="1"/>
          <p:nvPr/>
        </p:nvSpPr>
        <p:spPr>
          <a:xfrm rot="16200000">
            <a:off x="-2726267" y="3776133"/>
            <a:ext cx="567266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ПИЛОТА: 100 000 ₸ НА 1 ЧЕТВЕРТЬ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667" y="1016000"/>
            <a:ext cx="2286000" cy="677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СТАТЬЯ РАСХОДОВ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692400" y="1016000"/>
            <a:ext cx="1608667" cy="677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НАЗНАЧЕНИЕ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68800" y="1016000"/>
            <a:ext cx="1185333" cy="677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(₸)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2533" y="1828800"/>
            <a:ext cx="22352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Хостинг</a:t>
            </a:r>
            <a:endParaRPr lang="en-US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2726267" y="1828800"/>
            <a:ext cx="1557867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Vercel Pro для официального запуска, $20 × 3 мес.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4368800" y="1828800"/>
            <a:ext cx="1185333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30 000</a:t>
            </a:r>
            <a:endParaRPr lang="en-US" sz="1330" dirty="0"/>
          </a:p>
        </p:txBody>
      </p:sp>
      <p:sp>
        <p:nvSpPr>
          <p:cNvPr id="11" name="Text 9"/>
          <p:cNvSpPr txBox="1"/>
          <p:nvPr/>
        </p:nvSpPr>
        <p:spPr>
          <a:xfrm>
            <a:off x="372533" y="2692400"/>
            <a:ext cx="2235200" cy="931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Домен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2726267" y="2692400"/>
            <a:ext cx="1557867" cy="931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адрес сайта, например compass7.kz, 1 год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368800" y="2692400"/>
            <a:ext cx="1185333" cy="931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10 000</a:t>
            </a:r>
            <a:endParaRPr lang="en-US" sz="1330" dirty="0"/>
          </a:p>
        </p:txBody>
      </p:sp>
      <p:sp>
        <p:nvSpPr>
          <p:cNvPr id="14" name="Text 12"/>
          <p:cNvSpPr txBox="1"/>
          <p:nvPr/>
        </p:nvSpPr>
        <p:spPr>
          <a:xfrm>
            <a:off x="372533" y="3623733"/>
            <a:ext cx="2235200" cy="795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Печать</a:t>
            </a:r>
            <a:endParaRPr lang="en-US" sz="1330" dirty="0"/>
          </a:p>
        </p:txBody>
      </p:sp>
      <p:sp>
        <p:nvSpPr>
          <p:cNvPr id="15" name="Text 13"/>
          <p:cNvSpPr txBox="1"/>
          <p:nvPr/>
        </p:nvSpPr>
        <p:spPr>
          <a:xfrm>
            <a:off x="2726267" y="3623733"/>
            <a:ext cx="1557867" cy="795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QR-постеры в кабинеты, памятки кураторам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4368800" y="3623733"/>
            <a:ext cx="1185333" cy="7958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20 000</a:t>
            </a:r>
            <a:endParaRPr lang="en-US" sz="1330" dirty="0"/>
          </a:p>
        </p:txBody>
      </p:sp>
      <p:sp>
        <p:nvSpPr>
          <p:cNvPr id="17" name="Text 15"/>
          <p:cNvSpPr txBox="1"/>
          <p:nvPr/>
        </p:nvSpPr>
        <p:spPr>
          <a:xfrm>
            <a:off x="372533" y="4419600"/>
            <a:ext cx="2235200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Менторы</a:t>
            </a:r>
            <a:endParaRPr lang="en-US" sz="1330" dirty="0"/>
          </a:p>
        </p:txBody>
      </p:sp>
      <p:sp>
        <p:nvSpPr>
          <p:cNvPr id="18" name="Text 16"/>
          <p:cNvSpPr txBox="1"/>
          <p:nvPr/>
        </p:nvSpPr>
        <p:spPr>
          <a:xfrm>
            <a:off x="2726267" y="4419600"/>
            <a:ext cx="1557867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сертификаты и значки для 8 менторов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4368800" y="4419600"/>
            <a:ext cx="1185333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20 000</a:t>
            </a:r>
            <a:endParaRPr lang="en-US" sz="1330" dirty="0"/>
          </a:p>
        </p:txBody>
      </p:sp>
      <p:sp>
        <p:nvSpPr>
          <p:cNvPr id="20" name="Text 18"/>
          <p:cNvSpPr txBox="1"/>
          <p:nvPr/>
        </p:nvSpPr>
        <p:spPr>
          <a:xfrm>
            <a:off x="372533" y="5198533"/>
            <a:ext cx="2235200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Резерв</a:t>
            </a:r>
            <a:endParaRPr lang="en-US" sz="1330" dirty="0"/>
          </a:p>
        </p:txBody>
      </p:sp>
      <p:sp>
        <p:nvSpPr>
          <p:cNvPr id="21" name="Text 19"/>
          <p:cNvSpPr txBox="1"/>
          <p:nvPr/>
        </p:nvSpPr>
        <p:spPr>
          <a:xfrm>
            <a:off x="2726267" y="5198533"/>
            <a:ext cx="1557867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непредвиденные расходы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4368800" y="5198533"/>
            <a:ext cx="1185333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20 000</a:t>
            </a:r>
            <a:endParaRPr lang="en-US" sz="1330" dirty="0"/>
          </a:p>
        </p:txBody>
      </p:sp>
      <p:sp>
        <p:nvSpPr>
          <p:cNvPr id="23" name="Text 21"/>
          <p:cNvSpPr txBox="1"/>
          <p:nvPr/>
        </p:nvSpPr>
        <p:spPr>
          <a:xfrm>
            <a:off x="372533" y="5977467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ИТОГО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2726267" y="5977467"/>
            <a:ext cx="155786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максимальная инвестиция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4368800" y="5977467"/>
            <a:ext cx="118533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100 000</a:t>
            </a:r>
            <a:endParaRPr lang="en-US" sz="1330" dirty="0"/>
          </a:p>
        </p:txBody>
      </p:sp>
      <p:sp>
        <p:nvSpPr>
          <p:cNvPr id="26" name="Text 24"/>
          <p:cNvSpPr txBox="1"/>
          <p:nvPr/>
        </p:nvSpPr>
        <p:spPr>
          <a:xfrm>
            <a:off x="5842000" y="846667"/>
            <a:ext cx="1862667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ИСТОЧНИК ДОХОДА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7789333" y="846667"/>
            <a:ext cx="1862667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/ РАСЧЁТ</a:t>
            </a:r>
            <a:endParaRPr lang="en-US" sz="1130" dirty="0"/>
          </a:p>
        </p:txBody>
      </p:sp>
      <p:sp>
        <p:nvSpPr>
          <p:cNvPr id="28" name="Text 26"/>
          <p:cNvSpPr txBox="1"/>
          <p:nvPr/>
        </p:nvSpPr>
        <p:spPr>
          <a:xfrm>
            <a:off x="9736667" y="846667"/>
            <a:ext cx="1845733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СУММА В ГОД (₸)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5858933" y="1354667"/>
            <a:ext cx="1845733" cy="110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Лицензии школ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89333" y="1354667"/>
            <a:ext cx="1862667" cy="110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школ × 200 000 ₸, со 2-го года</a:t>
            </a:r>
            <a:endParaRPr lang="en-US" sz="1070" dirty="0"/>
          </a:p>
        </p:txBody>
      </p:sp>
      <p:sp>
        <p:nvSpPr>
          <p:cNvPr id="31" name="Text 29"/>
          <p:cNvSpPr txBox="1"/>
          <p:nvPr/>
        </p:nvSpPr>
        <p:spPr>
          <a:xfrm>
            <a:off x="9736667" y="1354667"/>
            <a:ext cx="1845733" cy="1100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1 000 000</a:t>
            </a:r>
            <a:endParaRPr lang="en-US" sz="1530" dirty="0"/>
          </a:p>
        </p:txBody>
      </p:sp>
      <p:sp>
        <p:nvSpPr>
          <p:cNvPr id="32" name="Text 30"/>
          <p:cNvSpPr txBox="1"/>
          <p:nvPr/>
        </p:nvSpPr>
        <p:spPr>
          <a:xfrm>
            <a:off x="5858933" y="2455333"/>
            <a:ext cx="1845733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Сеть школ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789333" y="2455333"/>
            <a:ext cx="186266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договор × 300 000 ₸</a:t>
            </a:r>
            <a:endParaRPr lang="en-US" sz="1070" dirty="0"/>
          </a:p>
        </p:txBody>
      </p:sp>
      <p:sp>
        <p:nvSpPr>
          <p:cNvPr id="34" name="Text 32"/>
          <p:cNvSpPr txBox="1"/>
          <p:nvPr/>
        </p:nvSpPr>
        <p:spPr>
          <a:xfrm>
            <a:off x="9736667" y="2455333"/>
            <a:ext cx="1845733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300 000</a:t>
            </a:r>
            <a:endParaRPr lang="en-US" sz="1530" dirty="0"/>
          </a:p>
        </p:txBody>
      </p:sp>
      <p:sp>
        <p:nvSpPr>
          <p:cNvPr id="35" name="Text 33"/>
          <p:cNvSpPr txBox="1"/>
          <p:nvPr/>
        </p:nvSpPr>
        <p:spPr>
          <a:xfrm>
            <a:off x="5858933" y="3115733"/>
            <a:ext cx="1845733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ИТОГО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789333" y="3115733"/>
            <a:ext cx="186266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прогноз годового дохода</a:t>
            </a:r>
            <a:endParaRPr lang="en-US" sz="1070" dirty="0"/>
          </a:p>
        </p:txBody>
      </p:sp>
      <p:sp>
        <p:nvSpPr>
          <p:cNvPr id="37" name="Text 35"/>
          <p:cNvSpPr txBox="1"/>
          <p:nvPr/>
        </p:nvSpPr>
        <p:spPr>
          <a:xfrm>
            <a:off x="9736667" y="3115733"/>
            <a:ext cx="1845733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1 300 000</a:t>
            </a:r>
            <a:endParaRPr lang="en-US" sz="1530" dirty="0"/>
          </a:p>
        </p:txBody>
      </p:sp>
      <p:graphicFrame>
        <p:nvGraphicFramePr>
          <p:cNvPr id="38" name="Chart 0" descr=""/>
          <p:cNvGraphicFramePr/>
          <p:nvPr/>
        </p:nvGraphicFramePr>
        <p:xfrm>
          <a:off x="5842000" y="3979333"/>
          <a:ext cx="3217333" cy="270933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9" name="Text 36"/>
          <p:cNvSpPr txBox="1"/>
          <p:nvPr/>
        </p:nvSpPr>
        <p:spPr>
          <a:xfrm>
            <a:off x="9144000" y="3979333"/>
            <a:ext cx="3005667" cy="1862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Итог пилота: 100 000 ₸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2-й год: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доход 1 300 000 ₸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расходы ≈ 330 000 ₸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итог ≈ +970 000 ₸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6163733"/>
            <a:ext cx="2980267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Вывод: пилот стоит ~100 000 ₸, со 2-го года доход покрывает расходы примерно в 4 раза. Для ученика Компас бесплатный.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8000" y="186267"/>
            <a:ext cx="11345333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533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Компас </a:t>
            </a:r>
            <a:pPr algn="ctr" indent="0" marL="0">
              <a:lnSpc>
                <a:spcPct val="105000"/>
              </a:lnSpc>
              <a:buNone/>
            </a:pPr>
            <a:r>
              <a:rPr lang="en-US" sz="533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победит?</a:t>
            </a:r>
            <a:endParaRPr lang="en-US" sz="5330" dirty="0"/>
          </a:p>
        </p:txBody>
      </p:sp>
      <p:sp>
        <p:nvSpPr>
          <p:cNvPr id="3" name="Text 1"/>
          <p:cNvSpPr txBox="1"/>
          <p:nvPr/>
        </p:nvSpPr>
        <p:spPr>
          <a:xfrm>
            <a:off x="677333" y="1016000"/>
            <a:ext cx="108373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70" b="1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Мы не просто показываем расписание. Мы превращаем первую неделю в понятный план.</a:t>
            </a:r>
            <a:endParaRPr lang="en-US" sz="1470" dirty="0"/>
          </a:p>
        </p:txBody>
      </p:sp>
      <p:sp>
        <p:nvSpPr>
          <p:cNvPr id="4" name="Text 2"/>
          <p:cNvSpPr txBox="1"/>
          <p:nvPr/>
        </p:nvSpPr>
        <p:spPr>
          <a:xfrm>
            <a:off x="846667" y="1371600"/>
            <a:ext cx="2540000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7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Растёт сам</a:t>
            </a:r>
            <a:endParaRPr lang="en-US" sz="1870" dirty="0"/>
          </a:p>
        </p:txBody>
      </p:sp>
      <p:sp>
        <p:nvSpPr>
          <p:cNvPr id="5" name="Text 3"/>
          <p:cNvSpPr txBox="1"/>
          <p:nvPr/>
        </p:nvSpPr>
        <p:spPr>
          <a:xfrm>
            <a:off x="338667" y="1727200"/>
            <a:ext cx="2455333" cy="897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2424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Каждый вопрос новичка делает Компас умнее для следующего набора.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186562" y="2821144"/>
            <a:ext cx="840782" cy="610864"/>
          </a:xfrm>
          <a:prstGeom prst="line">
            <a:avLst/>
          </a:prstGeom>
          <a:noFill/>
          <a:ln w="31750">
            <a:solidFill>
              <a:srgbClr val="6D5BF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H="1">
            <a:off x="5981361" y="4278884"/>
            <a:ext cx="321150" cy="988398"/>
          </a:xfrm>
          <a:prstGeom prst="line">
            <a:avLst/>
          </a:prstGeom>
          <a:noFill/>
          <a:ln w="31750">
            <a:solidFill>
              <a:srgbClr val="6D5BF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4221702" y="5790681"/>
            <a:ext cx="1039264" cy="9144"/>
          </a:xfrm>
          <a:prstGeom prst="line">
            <a:avLst/>
          </a:prstGeom>
          <a:noFill/>
          <a:ln w="31750">
            <a:solidFill>
              <a:srgbClr val="6D5BF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H="1" flipV="1">
            <a:off x="3180156" y="4278884"/>
            <a:ext cx="321150" cy="988398"/>
          </a:xfrm>
          <a:prstGeom prst="line">
            <a:avLst/>
          </a:prstGeom>
          <a:noFill/>
          <a:ln w="31750">
            <a:solidFill>
              <a:srgbClr val="6D5BF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3455322" y="2821144"/>
            <a:ext cx="840782" cy="610864"/>
          </a:xfrm>
          <a:prstGeom prst="line">
            <a:avLst/>
          </a:prstGeom>
          <a:noFill/>
          <a:ln w="31750">
            <a:solidFill>
              <a:srgbClr val="6D5BF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301067" y="2057400"/>
            <a:ext cx="880533" cy="880533"/>
          </a:xfrm>
          <a:prstGeom prst="ellipse">
            <a:avLst/>
          </a:prstGeom>
          <a:solidFill>
            <a:srgbClr val="2A1F7A"/>
          </a:solidFill>
          <a:ln w="25400">
            <a:solidFill>
              <a:srgbClr val="6D5BF0"/>
            </a:solidFill>
            <a:prstDash val="solid"/>
          </a:ln>
          <a:effectLst>
            <a:outerShdw sx="100000" sy="100000" kx="0" ky="0" algn="bl" rotWithShape="0" blurRad="101600" dist="25400" dir="5400000">
              <a:srgbClr val="3B35D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301067" y="2057400"/>
            <a:ext cx="880533" cy="88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810000" y="1566333"/>
            <a:ext cx="1862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Новичок задаёт вопрос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2307" y="3315219"/>
            <a:ext cx="880533" cy="880533"/>
          </a:xfrm>
          <a:prstGeom prst="ellipse">
            <a:avLst/>
          </a:prstGeom>
          <a:solidFill>
            <a:srgbClr val="2A1F7A"/>
          </a:solidFill>
          <a:ln w="25400">
            <a:solidFill>
              <a:srgbClr val="6D5BF0"/>
            </a:solidFill>
            <a:prstDash val="solid"/>
          </a:ln>
          <a:effectLst>
            <a:outerShdw sx="100000" sy="100000" kx="0" ky="0" algn="bl" rotWithShape="0" blurRad="101600" dist="25400" dir="5400000">
              <a:srgbClr val="3B35D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032307" y="3315219"/>
            <a:ext cx="880533" cy="88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541240" y="2824153"/>
            <a:ext cx="1862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Нет ответа: вопрос уходит куратору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71032" y="5350414"/>
            <a:ext cx="880533" cy="880533"/>
          </a:xfrm>
          <a:prstGeom prst="ellipse">
            <a:avLst/>
          </a:prstGeom>
          <a:solidFill>
            <a:srgbClr val="2A1F7A"/>
          </a:solidFill>
          <a:ln w="25400">
            <a:solidFill>
              <a:srgbClr val="6D5BF0"/>
            </a:solidFill>
            <a:prstDash val="solid"/>
          </a:ln>
          <a:effectLst>
            <a:outerShdw sx="100000" sy="100000" kx="0" ky="0" algn="bl" rotWithShape="0" blurRad="101600" dist="25400" dir="5400000">
              <a:srgbClr val="3B35D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71032" y="5350414"/>
            <a:ext cx="880533" cy="88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879965" y="6264814"/>
            <a:ext cx="1862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Завуч добавляет ответ в базу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31102" y="5350414"/>
            <a:ext cx="880533" cy="880533"/>
          </a:xfrm>
          <a:prstGeom prst="ellipse">
            <a:avLst/>
          </a:prstGeom>
          <a:solidFill>
            <a:srgbClr val="2A1F7A"/>
          </a:solidFill>
          <a:ln w="25400">
            <a:solidFill>
              <a:srgbClr val="6D5BF0"/>
            </a:solidFill>
            <a:prstDash val="solid"/>
          </a:ln>
          <a:effectLst>
            <a:outerShdw sx="100000" sy="100000" kx="0" ky="0" algn="bl" rotWithShape="0" blurRad="101600" dist="25400" dir="5400000">
              <a:srgbClr val="3B35D0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231102" y="5350414"/>
            <a:ext cx="880533" cy="88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2740035" y="6264814"/>
            <a:ext cx="1862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Следующий набор получает ответ сразу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69827" y="3315219"/>
            <a:ext cx="880533" cy="880533"/>
          </a:xfrm>
          <a:prstGeom prst="ellipse">
            <a:avLst/>
          </a:prstGeom>
          <a:solidFill>
            <a:srgbClr val="2A1F7A"/>
          </a:solidFill>
          <a:ln w="25400">
            <a:solidFill>
              <a:srgbClr val="6D5BF0"/>
            </a:solidFill>
            <a:prstDash val="solid"/>
          </a:ln>
          <a:effectLst>
            <a:outerShdw sx="100000" sy="100000" kx="0" ky="0" algn="bl" rotWithShape="0" blurRad="101600" dist="25400" dir="5400000">
              <a:srgbClr val="3B35D0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569827" y="3315219"/>
            <a:ext cx="880533" cy="88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2078760" y="2824153"/>
            <a:ext cx="1862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1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3 года новичок сам ментор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79333" y="4106333"/>
            <a:ext cx="1524000" cy="4233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Компас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450667" y="1371600"/>
            <a:ext cx="4656667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3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Компас против привычного</a:t>
            </a:r>
            <a:endParaRPr lang="en-US" sz="173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50667" y="1735667"/>
          <a:ext cx="4614333" cy="914400"/>
        </p:xfrm>
        <a:graphic>
          <a:graphicData uri="http://schemas.openxmlformats.org/drawingml/2006/table">
            <a:tbl>
              <a:tblPr/>
              <a:tblGrid>
                <a:gridCol w="1651000"/>
                <a:gridCol w="1058333"/>
                <a:gridCol w="846667"/>
                <a:gridCol w="1058333"/>
              </a:tblGrid>
              <a:tr h="3725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Что нужно новичку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Сайт, чат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Журнал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Компас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A5C"/>
                    </a:solidFill>
                  </a:tcPr>
                </a:tc>
              </a:tr>
              <a:tr h="3725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2143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Кабинеты и этажи по моему классу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2143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частично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263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7704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Есть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</a:tr>
              <a:tr h="3725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2143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ФО, СОР, СОЧ простыми словами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2143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как повезёт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263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7704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 и KZ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</a:tr>
              <a:tr h="3725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2143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Какие темы подтянуть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263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263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7704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 подтемам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</a:tr>
              <a:tr h="37253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2143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План недели со сном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263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263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Нет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7704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Есть</a:t>
                      </a:r>
                      <a:endParaRPr lang="en-US" sz="10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B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450667" y="3826933"/>
            <a:ext cx="4656667" cy="287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73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Реалистичный запуск</a:t>
            </a:r>
            <a:endParaRPr lang="en-US" sz="1730" dirty="0"/>
          </a:p>
        </p:txBody>
      </p:sp>
      <p:sp>
        <p:nvSpPr>
          <p:cNvPr id="30" name="Shape 27"/>
          <p:cNvSpPr/>
          <p:nvPr/>
        </p:nvSpPr>
        <p:spPr>
          <a:xfrm>
            <a:off x="7467600" y="6180667"/>
            <a:ext cx="846667" cy="592667"/>
          </a:xfrm>
          <a:prstGeom prst="roundRect">
            <a:avLst>
              <a:gd name="adj" fmla="val 12343"/>
            </a:avLst>
          </a:prstGeom>
          <a:solidFill>
            <a:srgbClr val="2A1F7A">
              <a:alpha val="92000"/>
            </a:srgbClr>
          </a:solidFill>
          <a:ln w="12700">
            <a:solidFill>
              <a:srgbClr val="6D5BF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467600" y="6231467"/>
            <a:ext cx="846667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7501467" y="6434667"/>
            <a:ext cx="77893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Прототип работает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8398933" y="5825067"/>
            <a:ext cx="846667" cy="948267"/>
          </a:xfrm>
          <a:prstGeom prst="roundRect">
            <a:avLst>
              <a:gd name="adj" fmla="val 8640"/>
            </a:avLst>
          </a:prstGeom>
          <a:solidFill>
            <a:srgbClr val="2A1F7A">
              <a:alpha val="92000"/>
            </a:srgbClr>
          </a:solidFill>
          <a:ln w="12700">
            <a:solidFill>
              <a:srgbClr val="6D5BF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98933" y="5875867"/>
            <a:ext cx="846667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432800" y="6079067"/>
            <a:ext cx="778933" cy="64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в 1 школе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9330267" y="5469467"/>
            <a:ext cx="846667" cy="1303867"/>
          </a:xfrm>
          <a:prstGeom prst="roundRect">
            <a:avLst>
              <a:gd name="adj" fmla="val 8640"/>
            </a:avLst>
          </a:prstGeom>
          <a:solidFill>
            <a:srgbClr val="2A1F7A">
              <a:alpha val="92000"/>
            </a:srgbClr>
          </a:solidFill>
          <a:ln w="12700">
            <a:solidFill>
              <a:srgbClr val="6D5BF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330267" y="5520267"/>
            <a:ext cx="846667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9364133" y="5723467"/>
            <a:ext cx="778933" cy="9990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Своё расписание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10261600" y="5113867"/>
            <a:ext cx="846667" cy="1659467"/>
          </a:xfrm>
          <a:prstGeom prst="roundRect">
            <a:avLst>
              <a:gd name="adj" fmla="val 8640"/>
            </a:avLst>
          </a:prstGeom>
          <a:solidFill>
            <a:srgbClr val="2A1F7A">
              <a:alpha val="92000"/>
            </a:srgbClr>
          </a:solidFill>
          <a:ln w="12700">
            <a:solidFill>
              <a:srgbClr val="6D5B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261600" y="5164667"/>
            <a:ext cx="846667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10295467" y="5367867"/>
            <a:ext cx="778933" cy="135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школ НИШ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11192933" y="4758267"/>
            <a:ext cx="846667" cy="2015067"/>
          </a:xfrm>
          <a:prstGeom prst="roundRect">
            <a:avLst>
              <a:gd name="adj" fmla="val 8640"/>
            </a:avLst>
          </a:prstGeom>
          <a:solidFill>
            <a:srgbClr val="3B35D0">
              <a:alpha val="92000"/>
            </a:srgbClr>
          </a:solidFill>
          <a:ln w="12700">
            <a:solidFill>
              <a:srgbClr val="6D5BF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1192933" y="4809067"/>
            <a:ext cx="846667" cy="220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1226800" y="5012267"/>
            <a:ext cx="778933" cy="1710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Сеть школ с отбором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338667" y="6519333"/>
            <a:ext cx="27093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30" b="1" dirty="0">
                <a:solidFill>
                  <a:srgbClr val="3B35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compass7-nis.vercel.app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Компас: адаптация семиклассников НИШ</dc:title>
  <dc:subject>PptxGenJS Presentation</dc:subject>
  <dc:creator>PptxGenJS</dc:creator>
  <cp:lastModifiedBy>PptxGenJS</cp:lastModifiedBy>
  <cp:revision>1</cp:revision>
  <dcterms:created xsi:type="dcterms:W3CDTF">2026-09-24T20:41:41Z</dcterms:created>
  <dcterms:modified xsi:type="dcterms:W3CDTF">2026-09-24T20:41:41Z</dcterms:modified>
</cp:coreProperties>
</file>