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Шығын</c:v>
                </c:pt>
              </c:strCache>
            </c:strRef>
          </c:tx>
          <c:spPr>
            <a:solidFill>
              <a:srgbClr val="B69CF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Пилот</c:v>
                  </c:pt>
                  <c:pt idx="1">
                    <c:v>2-жыл</c:v>
                  </c:pt>
                  <c:pt idx="2">
                    <c:v>3-жыл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72299</c:v>
                </c:pt>
                <c:pt idx="1">
                  <c:v>293090</c:v>
                </c:pt>
                <c:pt idx="2">
                  <c:v>821090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Табыс</c:v>
                </c:pt>
              </c:strCache>
            </c:strRef>
          </c:tx>
          <c:spPr>
            <a:solidFill>
              <a:srgbClr val="4F7DF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Пилот</c:v>
                  </c:pt>
                  <c:pt idx="1">
                    <c:v>2-жыл</c:v>
                  </c:pt>
                  <c:pt idx="2">
                    <c:v>3-жыл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600000</c:v>
                </c:pt>
                <c:pt idx="2">
                  <c:v>2520000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24242"/>
                </a:solidFill>
                <a:latin typeface="Montserra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9CFE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B7B"/>
                </a:solidFill>
                <a:latin typeface="Montserra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424242"/>
              </a:solidFill>
              <a:latin typeface="Montserrat"/>
              <a:cs typeface="Montserra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Есеп: жыл сайынғы тұрақты шығын = Vercel 12 ай (107 626) + домен (8 820) = 116 446 ₸. Әр мектепке: басып шығару 18 000 + менторлар 12 000 = 30 000 ₸. Барлығына +10% резерв. Шығын(n) = (116 446 + 30 000·n)·1,1. Табыс(n) = 120 000·n. n = 2 болғанда табыс шығыннан асады.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Slide-1-image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6667" y="135467"/>
            <a:ext cx="1049866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47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Қаржылық жоспар және шынайылық</a:t>
            </a:r>
            <a:endParaRPr lang="en-US" sz="3470" dirty="0"/>
          </a:p>
        </p:txBody>
      </p:sp>
      <p:sp>
        <p:nvSpPr>
          <p:cNvPr id="3" name="Text 1"/>
          <p:cNvSpPr txBox="1"/>
          <p:nvPr/>
        </p:nvSpPr>
        <p:spPr>
          <a:xfrm rot="16200000">
            <a:off x="-2726267" y="3776133"/>
            <a:ext cx="5672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ПИЛОТ БЮДЖЕТІ: 72 299 ₸ · 1 ТОҚСАН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338667" y="1016000"/>
            <a:ext cx="2286000" cy="677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ШЫҒЫН БАБЫ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692400" y="1016000"/>
            <a:ext cx="1608667" cy="677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ЕСЕП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368800" y="1016000"/>
            <a:ext cx="1185333" cy="677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Сома (₸)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72533" y="1828800"/>
            <a:ext cx="22352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3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Хостинг</a:t>
            </a:r>
            <a:endParaRPr lang="en-US" sz="1330" dirty="0"/>
          </a:p>
        </p:txBody>
      </p:sp>
      <p:sp>
        <p:nvSpPr>
          <p:cNvPr id="8" name="Text 6"/>
          <p:cNvSpPr txBox="1"/>
          <p:nvPr/>
        </p:nvSpPr>
        <p:spPr>
          <a:xfrm>
            <a:off x="2726267" y="1828800"/>
            <a:ext cx="15748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Vercel Pro: $20 × 3 ай × 448,44 ₸</a:t>
            </a:r>
            <a:endParaRPr lang="en-US" sz="870" dirty="0"/>
          </a:p>
        </p:txBody>
      </p:sp>
      <p:sp>
        <p:nvSpPr>
          <p:cNvPr id="9" name="Text 7"/>
          <p:cNvSpPr txBox="1"/>
          <p:nvPr/>
        </p:nvSpPr>
        <p:spPr>
          <a:xfrm>
            <a:off x="4368800" y="1828800"/>
            <a:ext cx="1185333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26 906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72533" y="2692400"/>
            <a:ext cx="2235200" cy="931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3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Домен .kz</a:t>
            </a:r>
            <a:endParaRPr lang="en-US" sz="1330" dirty="0"/>
          </a:p>
        </p:txBody>
      </p:sp>
      <p:sp>
        <p:nvSpPr>
          <p:cNvPr id="11" name="Text 9"/>
          <p:cNvSpPr txBox="1"/>
          <p:nvPr/>
        </p:nvSpPr>
        <p:spPr>
          <a:xfrm>
            <a:off x="2726267" y="2692400"/>
            <a:ext cx="1574800" cy="931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жыл, ps.kz бағасы</a:t>
            </a:r>
            <a:endParaRPr lang="en-US" sz="870" dirty="0"/>
          </a:p>
        </p:txBody>
      </p:sp>
      <p:sp>
        <p:nvSpPr>
          <p:cNvPr id="12" name="Text 10"/>
          <p:cNvSpPr txBox="1"/>
          <p:nvPr/>
        </p:nvSpPr>
        <p:spPr>
          <a:xfrm>
            <a:off x="4368800" y="2692400"/>
            <a:ext cx="1185333" cy="931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8 820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72533" y="3623733"/>
            <a:ext cx="2235200" cy="795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3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Басып шығару</a:t>
            </a:r>
            <a:endParaRPr lang="en-US" sz="1330" dirty="0"/>
          </a:p>
        </p:txBody>
      </p:sp>
      <p:sp>
        <p:nvSpPr>
          <p:cNvPr id="14" name="Text 12"/>
          <p:cNvSpPr txBox="1"/>
          <p:nvPr/>
        </p:nvSpPr>
        <p:spPr>
          <a:xfrm>
            <a:off x="2726267" y="3623733"/>
            <a:ext cx="1574800" cy="795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 QR-постер × 500 ₸ + 20 жадынама × 150 ₸</a:t>
            </a:r>
            <a:endParaRPr lang="en-US" sz="870" dirty="0"/>
          </a:p>
        </p:txBody>
      </p:sp>
      <p:sp>
        <p:nvSpPr>
          <p:cNvPr id="15" name="Text 13"/>
          <p:cNvSpPr txBox="1"/>
          <p:nvPr/>
        </p:nvSpPr>
        <p:spPr>
          <a:xfrm>
            <a:off x="4368800" y="3623733"/>
            <a:ext cx="1185333" cy="795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18 000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72533" y="4419600"/>
            <a:ext cx="2235200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3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Менторлар</a:t>
            </a:r>
            <a:endParaRPr lang="en-US" sz="1330" dirty="0"/>
          </a:p>
        </p:txBody>
      </p:sp>
      <p:sp>
        <p:nvSpPr>
          <p:cNvPr id="17" name="Text 15"/>
          <p:cNvSpPr txBox="1"/>
          <p:nvPr/>
        </p:nvSpPr>
        <p:spPr>
          <a:xfrm>
            <a:off x="2726267" y="4419600"/>
            <a:ext cx="1574800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 сертификат × 500 ₸ + 8 төсбелгі × 1 000 ₸</a:t>
            </a:r>
            <a:endParaRPr lang="en-US" sz="870" dirty="0"/>
          </a:p>
        </p:txBody>
      </p:sp>
      <p:sp>
        <p:nvSpPr>
          <p:cNvPr id="18" name="Text 16"/>
          <p:cNvSpPr txBox="1"/>
          <p:nvPr/>
        </p:nvSpPr>
        <p:spPr>
          <a:xfrm>
            <a:off x="4368800" y="4419600"/>
            <a:ext cx="1185333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12 000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72533" y="5198533"/>
            <a:ext cx="2235200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3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Резерв</a:t>
            </a:r>
            <a:endParaRPr lang="en-US" sz="1330" dirty="0"/>
          </a:p>
        </p:txBody>
      </p:sp>
      <p:sp>
        <p:nvSpPr>
          <p:cNvPr id="20" name="Text 18"/>
          <p:cNvSpPr txBox="1"/>
          <p:nvPr/>
        </p:nvSpPr>
        <p:spPr>
          <a:xfrm>
            <a:off x="2726267" y="5198533"/>
            <a:ext cx="1574800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жоғарыдағы соманың 10%-ы</a:t>
            </a:r>
            <a:endParaRPr lang="en-US" sz="870" dirty="0"/>
          </a:p>
        </p:txBody>
      </p:sp>
      <p:sp>
        <p:nvSpPr>
          <p:cNvPr id="21" name="Text 19"/>
          <p:cNvSpPr txBox="1"/>
          <p:nvPr/>
        </p:nvSpPr>
        <p:spPr>
          <a:xfrm>
            <a:off x="4368800" y="5198533"/>
            <a:ext cx="1185333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6 573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72533" y="5977467"/>
            <a:ext cx="2235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30" b="1" dirty="0">
                <a:solidFill>
                  <a:srgbClr val="3B35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БАРЛЫҒЫ</a:t>
            </a:r>
            <a:endParaRPr lang="en-US" sz="1330" dirty="0"/>
          </a:p>
        </p:txBody>
      </p:sp>
      <p:sp>
        <p:nvSpPr>
          <p:cNvPr id="23" name="Text 21"/>
          <p:cNvSpPr txBox="1"/>
          <p:nvPr/>
        </p:nvSpPr>
        <p:spPr>
          <a:xfrm>
            <a:off x="2726267" y="5977467"/>
            <a:ext cx="1574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мектептегі пилот</a:t>
            </a:r>
            <a:endParaRPr lang="en-US" sz="870" dirty="0"/>
          </a:p>
        </p:txBody>
      </p:sp>
      <p:sp>
        <p:nvSpPr>
          <p:cNvPr id="24" name="Text 22"/>
          <p:cNvSpPr txBox="1"/>
          <p:nvPr/>
        </p:nvSpPr>
        <p:spPr>
          <a:xfrm>
            <a:off x="4368800" y="5977467"/>
            <a:ext cx="1185333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3B35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72 299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842000" y="846667"/>
            <a:ext cx="1862667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КЕЗЕҢ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789333" y="846667"/>
            <a:ext cx="1862667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ШЫҒЫН (₸)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736667" y="846667"/>
            <a:ext cx="1845733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ТАБЫС (₸)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892800" y="1354667"/>
            <a:ext cx="1778000" cy="1100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Пилот: 1 мектеп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840133" y="1354667"/>
            <a:ext cx="1778000" cy="1100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7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72 299</a:t>
            </a:r>
            <a:endParaRPr lang="en-US" sz="1470" dirty="0"/>
          </a:p>
        </p:txBody>
      </p:sp>
      <p:sp>
        <p:nvSpPr>
          <p:cNvPr id="30" name="Text 28"/>
          <p:cNvSpPr txBox="1"/>
          <p:nvPr/>
        </p:nvSpPr>
        <p:spPr>
          <a:xfrm>
            <a:off x="9787467" y="1354667"/>
            <a:ext cx="1761067" cy="1100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70" b="1" dirty="0">
                <a:solidFill>
                  <a:srgbClr val="1770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</a:t>
            </a:r>
            <a:endParaRPr lang="en-US" sz="1470" dirty="0"/>
          </a:p>
        </p:txBody>
      </p:sp>
      <p:sp>
        <p:nvSpPr>
          <p:cNvPr id="31" name="Text 29"/>
          <p:cNvSpPr txBox="1"/>
          <p:nvPr/>
        </p:nvSpPr>
        <p:spPr>
          <a:xfrm>
            <a:off x="5892800" y="2455333"/>
            <a:ext cx="1778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2-жыл: 5 мектеп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840133" y="2455333"/>
            <a:ext cx="1778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7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293 090</a:t>
            </a:r>
            <a:endParaRPr lang="en-US" sz="1470" dirty="0"/>
          </a:p>
        </p:txBody>
      </p:sp>
      <p:sp>
        <p:nvSpPr>
          <p:cNvPr id="33" name="Text 31"/>
          <p:cNvSpPr txBox="1"/>
          <p:nvPr/>
        </p:nvSpPr>
        <p:spPr>
          <a:xfrm>
            <a:off x="9787467" y="2455333"/>
            <a:ext cx="1761067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70" b="1" dirty="0">
                <a:solidFill>
                  <a:srgbClr val="1770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600 000</a:t>
            </a:r>
            <a:endParaRPr lang="en-US" sz="1470" dirty="0"/>
          </a:p>
        </p:txBody>
      </p:sp>
      <p:sp>
        <p:nvSpPr>
          <p:cNvPr id="34" name="Text 32"/>
          <p:cNvSpPr txBox="1"/>
          <p:nvPr/>
        </p:nvSpPr>
        <p:spPr>
          <a:xfrm>
            <a:off x="5892800" y="3115733"/>
            <a:ext cx="1778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3-жыл: 21 НЗМ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7840133" y="3115733"/>
            <a:ext cx="1778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7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821 090</a:t>
            </a:r>
            <a:endParaRPr lang="en-US" sz="1470" dirty="0"/>
          </a:p>
        </p:txBody>
      </p:sp>
      <p:sp>
        <p:nvSpPr>
          <p:cNvPr id="36" name="Text 34"/>
          <p:cNvSpPr txBox="1"/>
          <p:nvPr/>
        </p:nvSpPr>
        <p:spPr>
          <a:xfrm>
            <a:off x="9787467" y="3115733"/>
            <a:ext cx="1761067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70" b="1" dirty="0">
                <a:solidFill>
                  <a:srgbClr val="1770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2 520 000</a:t>
            </a:r>
            <a:endParaRPr lang="en-US" sz="1470" dirty="0"/>
          </a:p>
        </p:txBody>
      </p:sp>
      <p:graphicFrame>
        <p:nvGraphicFramePr>
          <p:cNvPr id="37" name="Chart 0" descr=""/>
          <p:cNvGraphicFramePr/>
          <p:nvPr/>
        </p:nvGraphicFramePr>
        <p:xfrm>
          <a:off x="5842000" y="3911600"/>
          <a:ext cx="3302000" cy="283633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8" name="Text 35"/>
          <p:cNvSpPr txBox="1"/>
          <p:nvPr/>
        </p:nvSpPr>
        <p:spPr>
          <a:xfrm>
            <a:off x="9186333" y="3911600"/>
            <a:ext cx="2937933" cy="2015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30" b="1" dirty="0">
                <a:solidFill>
                  <a:srgbClr val="3B35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Өзін-өзі ақтау:</a:t>
            </a:r>
            <a:endParaRPr lang="en-US" sz="153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мектептен бастап</a:t>
            </a:r>
            <a:endParaRPr lang="en-US" sz="153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153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530" b="1" dirty="0">
                <a:solidFill>
                  <a:srgbClr val="3B35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2-жыл пайдасы:</a:t>
            </a:r>
            <a:endParaRPr lang="en-US" sz="153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+306 910 ₸</a:t>
            </a:r>
            <a:endParaRPr lang="en-US" sz="153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153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530" b="1" dirty="0">
                <a:solidFill>
                  <a:srgbClr val="3B35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3-жыл пайдасы:</a:t>
            </a:r>
            <a:endParaRPr lang="en-US" sz="153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+1 698 910 ₸</a:t>
            </a:r>
            <a:endParaRPr lang="en-US" sz="1530" dirty="0"/>
          </a:p>
        </p:txBody>
      </p:sp>
      <p:sp>
        <p:nvSpPr>
          <p:cNvPr id="39" name="Text 36"/>
          <p:cNvSpPr txBox="1"/>
          <p:nvPr/>
        </p:nvSpPr>
        <p:spPr>
          <a:xfrm>
            <a:off x="9160933" y="5960533"/>
            <a:ext cx="2963333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70" b="1" dirty="0">
                <a:solidFill>
                  <a:srgbClr val="121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Пилотта бір оқушыға ≈ 723 ₸. Оқушы үшін Компас тегін, лицензияны мектеп төлейді.</a:t>
            </a:r>
            <a:endParaRPr lang="en-US" sz="870" dirty="0"/>
          </a:p>
        </p:txBody>
      </p:sp>
      <p:sp>
        <p:nvSpPr>
          <p:cNvPr id="40" name="Text 37"/>
          <p:cNvSpPr txBox="1"/>
          <p:nvPr/>
        </p:nvSpPr>
        <p:spPr>
          <a:xfrm>
            <a:off x="9160933" y="6383867"/>
            <a:ext cx="2963333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670" dirty="0">
                <a:solidFill>
                  <a:srgbClr val="4242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Курс 448,44 ₸/$ (ҰБ, 23.09.2026) · Vercel Pro $20/ай · .kz 8 820 ₸/жыл (ps.kz) · лицензия 120 000 ₸/жыл, басып шығару бағасы: команданың бағалауы</a:t>
            </a:r>
            <a:endParaRPr lang="en-US" sz="6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Компас: адаптация семиклассников НИШ</dc:title>
  <dc:subject>PptxGenJS Presentation</dc:subject>
  <dc:creator>PptxGenJS</dc:creator>
  <cp:lastModifiedBy>PptxGenJS</cp:lastModifiedBy>
  <cp:revision>1</cp:revision>
  <dcterms:created xsi:type="dcterms:W3CDTF">2026-09-25T04:30:00Z</dcterms:created>
  <dcterms:modified xsi:type="dcterms:W3CDTF">2026-09-25T04:30:00Z</dcterms:modified>
</cp:coreProperties>
</file>